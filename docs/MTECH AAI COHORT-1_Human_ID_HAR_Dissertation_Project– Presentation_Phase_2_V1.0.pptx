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56" r:id="rId3"/>
    <p:sldId id="257" r:id="rId4"/>
    <p:sldId id="284" r:id="rId5"/>
    <p:sldId id="285" r:id="rId6"/>
    <p:sldId id="258" r:id="rId7"/>
    <p:sldId id="259" r:id="rId8"/>
    <p:sldId id="260" r:id="rId9"/>
    <p:sldId id="261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140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1D2B1606-78BE-83ED-FCE9-89FB97E5E9C7}"/>
              </a:ext>
            </a:extLst>
          </p:cNvPr>
          <p:cNvSpPr txBox="1">
            <a:spLocks noGrp="1" noChangeArrowheads="1"/>
          </p:cNvSpPr>
          <p:nvPr>
            <p:ph type="ctrTitle"/>
          </p:nvPr>
        </p:nvSpPr>
        <p:spPr>
          <a:xfrm>
            <a:off x="928328" y="1872983"/>
            <a:ext cx="7360823" cy="1792301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/>
          <a:lstStyle/>
          <a:p>
            <a:pPr algn="ctr" eaLnBrk="1" hangingPunct="1"/>
            <a:r>
              <a:rPr lang="en-US" altLang="en-US" sz="3993" dirty="0"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</a:rPr>
              <a:t>MTECH AAI COHORT-1 Dissertation Project – Phase II</a:t>
            </a:r>
          </a:p>
        </p:txBody>
      </p:sp>
      <p:sp>
        <p:nvSpPr>
          <p:cNvPr id="40963" name="Subtitle 2">
            <a:extLst>
              <a:ext uri="{FF2B5EF4-FFF2-40B4-BE49-F238E27FC236}">
                <a16:creationId xmlns:a16="http://schemas.microsoft.com/office/drawing/2014/main" id="{FDCC5EB1-7126-2DDF-6202-C7CCA9514552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928328" y="5191046"/>
            <a:ext cx="7360823" cy="1241932"/>
          </a:xfr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</p:spPr>
        <p:txBody>
          <a:bodyPr>
            <a:normAutofit fontScale="77500" lnSpcReduction="20000"/>
          </a:bodyPr>
          <a:lstStyle/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Presented by: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Sanjeev Kumar Pandey	</a:t>
            </a:r>
          </a:p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Enrolment No: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MT23AAI001</a:t>
            </a:r>
          </a:p>
          <a:p>
            <a:pPr algn="ctr" eaLnBrk="1" hangingPunct="1"/>
            <a:r>
              <a:rPr lang="en-US" altLang="en-US" b="1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Project Guide:</a:t>
            </a:r>
            <a:r>
              <a:rPr lang="en-US" altLang="en-US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 Dr. Amit Agrawal</a:t>
            </a:r>
          </a:p>
        </p:txBody>
      </p:sp>
      <p:pic>
        <p:nvPicPr>
          <p:cNvPr id="40964" name="Picture 4" descr="Picture 4">
            <a:extLst>
              <a:ext uri="{FF2B5EF4-FFF2-40B4-BE49-F238E27FC236}">
                <a16:creationId xmlns:a16="http://schemas.microsoft.com/office/drawing/2014/main" id="{A3DD3686-914F-0F5B-71C8-AE7968240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489" y="497061"/>
            <a:ext cx="1179980" cy="1279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0965" name="Subtitle 2">
            <a:extLst>
              <a:ext uri="{FF2B5EF4-FFF2-40B4-BE49-F238E27FC236}">
                <a16:creationId xmlns:a16="http://schemas.microsoft.com/office/drawing/2014/main" id="{420358C7-AC25-5975-3F92-C79BA405B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309" y="3806478"/>
            <a:ext cx="7359383" cy="462483"/>
          </a:xfrm>
          <a:prstGeom prst="rect">
            <a:avLst/>
          </a:prstGeom>
          <a:gradFill rotWithShape="0">
            <a:gsLst>
              <a:gs pos="0">
                <a:srgbClr val="F5FBFE"/>
              </a:gs>
              <a:gs pos="74001">
                <a:srgbClr val="A2DAF6"/>
              </a:gs>
              <a:gs pos="83000">
                <a:srgbClr val="A2DAF6"/>
              </a:gs>
              <a:gs pos="100000">
                <a:srgbClr val="C1E6F9"/>
              </a:gs>
            </a:gsLst>
            <a:lin ang="5400000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1493" rIns="41493"/>
          <a:lstStyle>
            <a:lvl1pPr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1pPr>
            <a:lvl2pPr marL="874713" indent="-37147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2pPr>
            <a:lvl3pPr marL="1438275" indent="-430213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3pPr>
            <a:lvl4pPr marL="1800225" indent="-2889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4pPr>
            <a:lvl5pPr marL="2343150" indent="-327025" defTabSz="503238">
              <a:spcBef>
                <a:spcPts val="600"/>
              </a:spcBef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5pPr>
            <a:lvl6pPr marL="28003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6pPr>
            <a:lvl7pPr marL="32575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7pPr>
            <a:lvl8pPr marL="37147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8pPr>
            <a:lvl9pPr marL="4171950" indent="-327025" defTabSz="503238" eaLnBrk="0" fontAlgn="base" hangingPunct="0">
              <a:spcBef>
                <a:spcPts val="600"/>
              </a:spcBef>
              <a:spcAft>
                <a:spcPct val="0"/>
              </a:spcAft>
              <a:buClr>
                <a:srgbClr val="1287C3"/>
              </a:buClr>
              <a:buSzPct val="145000"/>
              <a:buFont typeface="Arial" panose="020B0604020202020204" pitchFamily="34" charset="0"/>
              <a:buChar char="•"/>
              <a:defRPr sz="2600">
                <a:solidFill>
                  <a:srgbClr val="000000"/>
                </a:solidFill>
                <a:latin typeface="Corbel" panose="020B0503020204020204" pitchFamily="34" charset="0"/>
                <a:ea typeface="Corbel" panose="020B0503020204020204" pitchFamily="34" charset="0"/>
                <a:cs typeface="Corbel" panose="020B0503020204020204" pitchFamily="34" charset="0"/>
                <a:sym typeface="Corbel" panose="020B0503020204020204" pitchFamily="34" charset="0"/>
              </a:defRPr>
            </a:lvl9pPr>
          </a:lstStyle>
          <a:p>
            <a:pPr algn="ctr" eaLnBrk="1">
              <a:buClrTx/>
              <a:buSzTx/>
              <a:buFontTx/>
              <a:buNone/>
            </a:pPr>
            <a:r>
              <a:rPr lang="en-US" altLang="en-US" sz="1724" b="1" dirty="0">
                <a:solidFill>
                  <a:srgbClr val="898989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Evaluation-I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Human ID &amp; Activity Prediction using Wi-Fi Signals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Leveraging Wi-Fi Channel State Information (CSI) and RSSI</a:t>
            </a:r>
            <a:endParaRPr lang="en-IN" dirty="0"/>
          </a:p>
          <a:p>
            <a:r>
              <a:rPr lang="en-GB" dirty="0"/>
              <a:t>Sanjeev Kumar Pandey</a:t>
            </a:r>
            <a:r>
              <a:rPr dirty="0"/>
              <a:t> | </a:t>
            </a:r>
            <a:r>
              <a:rPr lang="en-IN" dirty="0"/>
              <a:t>10-Sep-2025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Dataset Aim:</a:t>
            </a:r>
            <a:r>
              <a:rPr dirty="0"/>
              <a:t> Wi-Fi-based Human Activity Recognition (HAR) in indoor environments (LOS &amp; NLOS).</a:t>
            </a:r>
          </a:p>
          <a:p>
            <a:r>
              <a:rPr b="1" dirty="0"/>
              <a:t>Objective 1:</a:t>
            </a:r>
            <a:r>
              <a:rPr dirty="0"/>
              <a:t> Detect the activity action type from Wi-Fi signals.</a:t>
            </a:r>
          </a:p>
          <a:p>
            <a:r>
              <a:rPr b="1" dirty="0"/>
              <a:t>Objective 2:</a:t>
            </a:r>
            <a:r>
              <a:rPr dirty="0"/>
              <a:t> Detect the ID of the person performing the activity.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F4A46-A213-6598-1CBA-9BC01FD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5DE616-4AC0-1627-AD05-DD0BC498B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51" y="274638"/>
            <a:ext cx="8537098" cy="6004782"/>
          </a:xfrm>
        </p:spPr>
      </p:pic>
    </p:spTree>
    <p:extLst>
      <p:ext uri="{BB962C8B-B14F-4D97-AF65-F5344CB8AC3E}">
        <p14:creationId xmlns:p14="http://schemas.microsoft.com/office/powerpoint/2010/main" val="79979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8ECC0-AC8D-207E-58AB-0F2D3B7F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Planning overview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6CC3-41A5-CD5B-779A-BA3588AEB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Literature Review &amp; Planning: </a:t>
            </a:r>
            <a:r>
              <a:rPr lang="en-GB" dirty="0"/>
              <a:t>Start with reading key papers, setting objectives, and technical planning.</a:t>
            </a:r>
          </a:p>
          <a:p>
            <a:r>
              <a:rPr lang="en-GB" b="1" dirty="0"/>
              <a:t>Data Understanding &amp; Preprocessing:</a:t>
            </a:r>
            <a:r>
              <a:rPr lang="en-GB" dirty="0"/>
              <a:t> Explore dataset, feature extraction, and handle CSI/RSSI preprocessing.</a:t>
            </a:r>
          </a:p>
          <a:p>
            <a:r>
              <a:rPr lang="en-GB" b="1" dirty="0"/>
              <a:t>Initial Coding &amp; Baseline Model (Eval 1):</a:t>
            </a:r>
            <a:r>
              <a:rPr lang="en-GB" dirty="0"/>
              <a:t> Set up coding, implement baseline models, run initial training and evaluation.</a:t>
            </a:r>
          </a:p>
          <a:p>
            <a:r>
              <a:rPr lang="en-GB" b="1" dirty="0"/>
              <a:t>Advanced Model Training &amp; Experimentation (Eval 2):</a:t>
            </a:r>
            <a:r>
              <a:rPr lang="en-GB" dirty="0"/>
              <a:t> Design and train advanced models (HAR, Human ID, multi-output), experiment, and tune.</a:t>
            </a:r>
          </a:p>
          <a:p>
            <a:r>
              <a:rPr lang="en-GB" b="1" dirty="0"/>
              <a:t>Analysis &amp; Integration:</a:t>
            </a:r>
            <a:r>
              <a:rPr lang="en-GB" dirty="0"/>
              <a:t> Compare results, integrate best-performing models, and conduct error analysis.</a:t>
            </a:r>
          </a:p>
          <a:p>
            <a:r>
              <a:rPr lang="en-GB" b="1" dirty="0"/>
              <a:t>Research Paper Drafting &amp; Documentation:</a:t>
            </a:r>
            <a:r>
              <a:rPr lang="en-GB" dirty="0"/>
              <a:t> Start documentation and research paper draft, plus slides for presentation.</a:t>
            </a:r>
          </a:p>
          <a:p>
            <a:r>
              <a:rPr lang="en-GB" b="1" dirty="0"/>
              <a:t>Final Report &amp; Presentation (Eval 3):</a:t>
            </a:r>
            <a:r>
              <a:rPr lang="en-GB" dirty="0"/>
              <a:t> Polish final report, prepare for oral </a:t>
            </a:r>
            <a:r>
              <a:rPr lang="en-GB" dirty="0" err="1"/>
              <a:t>defense</a:t>
            </a:r>
            <a:r>
              <a:rPr lang="en-GB" dirty="0"/>
              <a:t>, and respond to committee feedback.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732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Source Paper:</a:t>
            </a:r>
            <a:r>
              <a:rPr dirty="0"/>
              <a:t> 'A dataset for Wi-Fi-based human activity recognition in LOS and NLOS indoor environments'.</a:t>
            </a:r>
            <a:r>
              <a:rPr lang="en-IN" dirty="0"/>
              <a:t> https://pmc.ncbi.nlm.nih.gov/articles/PMC7704290/pdf/main.pdf</a:t>
            </a:r>
            <a:endParaRPr dirty="0"/>
          </a:p>
          <a:p>
            <a:r>
              <a:rPr b="1" dirty="0"/>
              <a:t>Authors:</a:t>
            </a:r>
            <a:r>
              <a:rPr dirty="0"/>
              <a:t> Baha’ A </a:t>
            </a:r>
            <a:r>
              <a:rPr dirty="0" err="1"/>
              <a:t>Alsaify</a:t>
            </a:r>
            <a:r>
              <a:rPr dirty="0"/>
              <a:t> et al., Jordan University of Science and Technology, German Jordanian University.</a:t>
            </a:r>
          </a:p>
          <a:p>
            <a:r>
              <a:rPr b="1" dirty="0"/>
              <a:t>Publication Date:</a:t>
            </a:r>
            <a:r>
              <a:rPr dirty="0"/>
              <a:t> November 18, 2020.</a:t>
            </a:r>
          </a:p>
          <a:p>
            <a:r>
              <a:rPr b="1" dirty="0"/>
              <a:t>Purpose:</a:t>
            </a:r>
            <a:r>
              <a:rPr dirty="0"/>
              <a:t> Benchmark dataset for HAR research across LOS &amp; NLOS settings.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 of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b="1" dirty="0"/>
              <a:t>Participants:</a:t>
            </a:r>
            <a:r>
              <a:rPr dirty="0"/>
              <a:t> 30 subjects (28 male, 2 female), age ~22.7 ± 2.95 years.</a:t>
            </a:r>
          </a:p>
          <a:p>
            <a:r>
              <a:rPr b="1" dirty="0"/>
              <a:t>Activities:</a:t>
            </a:r>
            <a:r>
              <a:rPr dirty="0"/>
              <a:t> 12 unique actions across 5 experiment classes.</a:t>
            </a:r>
          </a:p>
          <a:p>
            <a:r>
              <a:rPr b="1" dirty="0"/>
              <a:t>Environments:</a:t>
            </a:r>
            <a:r>
              <a:rPr dirty="0"/>
              <a:t> 2 LOS (lab, hallway) + 1 NLOS (wooden wall barrier).</a:t>
            </a:r>
          </a:p>
          <a:p>
            <a:r>
              <a:rPr b="1" dirty="0"/>
              <a:t>Data Types:</a:t>
            </a:r>
            <a:r>
              <a:rPr dirty="0"/>
              <a:t> Channel State Information (CSI) and RSSI values.</a:t>
            </a:r>
          </a:p>
          <a:p>
            <a:r>
              <a:rPr b="1" dirty="0"/>
              <a:t>File Naming:</a:t>
            </a:r>
            <a:r>
              <a:rPr dirty="0"/>
              <a:t> Ex_Sy_Cz_Ai_Tk.csv (e.g., E1_S04_C3_A7_T17.csv).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Feasibility of Human ID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Subject ID explicitly labeled in filenames (S1–S30).</a:t>
            </a:r>
          </a:p>
          <a:p>
            <a:r>
              <a:t>Biometric info (age, weight, height) subtly affects signals.</a:t>
            </a:r>
          </a:p>
          <a:p>
            <a:r>
              <a:t>CSI &amp; RSSI are sensitive to individual movement signatures.</a:t>
            </a:r>
          </a:p>
          <a:p>
            <a:r>
              <a:t>Rich dataset (3000 trials) suitable for Human ID modeling.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Use Case: Security &amp;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Traditional biometrics (faces, fingerprints) can be spoofed &amp; require active participation.</a:t>
            </a:r>
          </a:p>
          <a:p>
            <a:r>
              <a:rPr dirty="0"/>
              <a:t>Wi-Fi-based ID is passive, non-intrusive, and works in NLOS environments.</a:t>
            </a:r>
          </a:p>
          <a:p>
            <a:r>
              <a:rPr b="1" dirty="0"/>
              <a:t>Applications:</a:t>
            </a:r>
            <a:r>
              <a:rPr dirty="0"/>
              <a:t> High-security zones (ISRO, NASA, Parliament House), covert surveillance, medical alerts.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Target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b="1" dirty="0"/>
              <a:t>HAR Activity Recognition: </a:t>
            </a:r>
            <a:r>
              <a:rPr dirty="0"/>
              <a:t>Classify 12 unique activities (A1–A12).</a:t>
            </a:r>
          </a:p>
          <a:p>
            <a:r>
              <a:rPr b="1" dirty="0"/>
              <a:t>Human ID:</a:t>
            </a:r>
            <a:r>
              <a:rPr dirty="0"/>
              <a:t> Identify 1 of 30 subjects (S1–S30).</a:t>
            </a:r>
          </a:p>
          <a:p>
            <a:r>
              <a:rPr b="1" dirty="0"/>
              <a:t>Input Data:</a:t>
            </a:r>
            <a:r>
              <a:rPr dirty="0"/>
              <a:t> CSI &amp; RSSI values sensitive to presence &amp; movement.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Development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Approach 1:</a:t>
            </a:r>
            <a:r>
              <a:rPr dirty="0"/>
              <a:t> Two Separate Models</a:t>
            </a:r>
            <a:endParaRPr lang="en-IN" dirty="0"/>
          </a:p>
          <a:p>
            <a:pPr lvl="1"/>
            <a:r>
              <a:rPr dirty="0"/>
              <a:t>HAR Activity Classifier (12 classes).</a:t>
            </a:r>
            <a:endParaRPr lang="en-IN" dirty="0"/>
          </a:p>
          <a:p>
            <a:pPr lvl="1"/>
            <a:r>
              <a:rPr dirty="0"/>
              <a:t>Human ID Classifier (30 subjects).</a:t>
            </a:r>
            <a:endParaRPr lang="en-IN" dirty="0"/>
          </a:p>
          <a:p>
            <a:r>
              <a:rPr b="1" dirty="0"/>
              <a:t>Approach 2:</a:t>
            </a:r>
            <a:r>
              <a:rPr dirty="0"/>
              <a:t> One Multi-Output Model</a:t>
            </a:r>
            <a:endParaRPr lang="en-IN" dirty="0"/>
          </a:p>
          <a:p>
            <a:pPr lvl="1"/>
            <a:r>
              <a:rPr dirty="0"/>
              <a:t>Single model with shared features.</a:t>
            </a:r>
            <a:endParaRPr lang="en-IN" dirty="0"/>
          </a:p>
          <a:p>
            <a:pPr lvl="1"/>
            <a:r>
              <a:rPr dirty="0"/>
              <a:t>Two output heads: Activity &amp; 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Dataset provides rich labeled Wi-Fi signal data (CSI, RSSI).</a:t>
            </a:r>
          </a:p>
          <a:p>
            <a:r>
              <a:t>Suitable for both HAR and Human ID tasks.</a:t>
            </a:r>
          </a:p>
          <a:p>
            <a:r>
              <a:t>Choice: Separate models (simplicity) vs. Multi-output model (efficiency).</a:t>
            </a:r>
          </a:p>
          <a:p>
            <a:r>
              <a:t>Next Step: Implement and evaluate both approaches.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9274</TotalTime>
  <Words>649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Corbel</vt:lpstr>
      <vt:lpstr>Office Theme</vt:lpstr>
      <vt:lpstr>MTECH AAI COHORT-1 Dissertation Project – Phase II</vt:lpstr>
      <vt:lpstr>Human ID &amp; Activity Prediction using Wi-Fi Signals</vt:lpstr>
      <vt:lpstr>Project Objectives</vt:lpstr>
      <vt:lpstr>PowerPoint Presentation</vt:lpstr>
      <vt:lpstr>Planning overview</vt:lpstr>
      <vt:lpstr>Dataset Overview</vt:lpstr>
      <vt:lpstr>Key Features of Dataset</vt:lpstr>
      <vt:lpstr>Feasibility of Human ID Prediction</vt:lpstr>
      <vt:lpstr>Use Case: Security &amp; Monitoring</vt:lpstr>
      <vt:lpstr>Target Variables</vt:lpstr>
      <vt:lpstr>Model Development Approaches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Sanjeev Pandey</cp:lastModifiedBy>
  <cp:revision>5</cp:revision>
  <dcterms:created xsi:type="dcterms:W3CDTF">2013-01-27T09:14:16Z</dcterms:created>
  <dcterms:modified xsi:type="dcterms:W3CDTF">2025-09-13T03:19:01Z</dcterms:modified>
  <cp:category/>
</cp:coreProperties>
</file>