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83" r:id="rId2"/>
    <p:sldId id="256" r:id="rId3"/>
    <p:sldId id="257" r:id="rId4"/>
    <p:sldId id="284" r:id="rId5"/>
    <p:sldId id="285" r:id="rId6"/>
    <p:sldId id="258" r:id="rId7"/>
    <p:sldId id="259" r:id="rId8"/>
    <p:sldId id="260" r:id="rId9"/>
    <p:sldId id="261" r:id="rId10"/>
    <p:sldId id="263" r:id="rId11"/>
    <p:sldId id="264" r:id="rId12"/>
    <p:sldId id="265" r:id="rId13"/>
    <p:sldId id="287" r:id="rId14"/>
    <p:sldId id="288" r:id="rId15"/>
    <p:sldId id="289" r:id="rId16"/>
    <p:sldId id="296" r:id="rId17"/>
    <p:sldId id="290" r:id="rId18"/>
    <p:sldId id="291" r:id="rId19"/>
    <p:sldId id="292" r:id="rId20"/>
    <p:sldId id="293" r:id="rId21"/>
    <p:sldId id="294" r:id="rId22"/>
    <p:sldId id="295" r:id="rId23"/>
    <p:sldId id="297" r:id="rId24"/>
    <p:sldId id="298" r:id="rId25"/>
    <p:sldId id="299" r:id="rId26"/>
    <p:sldId id="300" r:id="rId27"/>
    <p:sldId id="286" r:id="rId2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63"/>
  </p:normalViewPr>
  <p:slideViewPr>
    <p:cSldViewPr snapToGrid="0" snapToObjects="1">
      <p:cViewPr varScale="1">
        <p:scale>
          <a:sx n="118" d="100"/>
          <a:sy n="118" d="100"/>
        </p:scale>
        <p:origin x="140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itle 1">
            <a:extLst>
              <a:ext uri="{FF2B5EF4-FFF2-40B4-BE49-F238E27FC236}">
                <a16:creationId xmlns:a16="http://schemas.microsoft.com/office/drawing/2014/main" id="{1D2B1606-78BE-83ED-FCE9-89FB97E5E9C7}"/>
              </a:ext>
            </a:extLst>
          </p:cNvPr>
          <p:cNvSpPr txBox="1">
            <a:spLocks noGrp="1" noChangeArrowheads="1"/>
          </p:cNvSpPr>
          <p:nvPr>
            <p:ph type="ctrTitle"/>
          </p:nvPr>
        </p:nvSpPr>
        <p:spPr>
          <a:xfrm>
            <a:off x="928328" y="1872983"/>
            <a:ext cx="7360823" cy="1792301"/>
          </a:xfrm>
          <a:gradFill rotWithShape="0">
            <a:gsLst>
              <a:gs pos="0">
                <a:srgbClr val="F5FBFE"/>
              </a:gs>
              <a:gs pos="74001">
                <a:srgbClr val="A2DAF6"/>
              </a:gs>
              <a:gs pos="83000">
                <a:srgbClr val="A2DAF6"/>
              </a:gs>
              <a:gs pos="100000">
                <a:srgbClr val="C1E6F9"/>
              </a:gs>
            </a:gsLst>
            <a:lin ang="5400000"/>
          </a:gradFill>
        </p:spPr>
        <p:txBody>
          <a:bodyPr/>
          <a:lstStyle/>
          <a:p>
            <a:pPr algn="ctr" eaLnBrk="1" hangingPunct="1"/>
            <a:r>
              <a:rPr lang="en-US" altLang="en-US" sz="3993" dirty="0">
                <a:latin typeface="Corbel" panose="020B0503020204020204" pitchFamily="34" charset="0"/>
                <a:ea typeface="Corbel" panose="020B0503020204020204" pitchFamily="34" charset="0"/>
                <a:cs typeface="Corbel" panose="020B0503020204020204" pitchFamily="34" charset="0"/>
              </a:rPr>
              <a:t>MTECH AAI COHORT-1 Dissertation Project – Phase II</a:t>
            </a:r>
          </a:p>
        </p:txBody>
      </p:sp>
      <p:sp>
        <p:nvSpPr>
          <p:cNvPr id="40963" name="Subtitle 2">
            <a:extLst>
              <a:ext uri="{FF2B5EF4-FFF2-40B4-BE49-F238E27FC236}">
                <a16:creationId xmlns:a16="http://schemas.microsoft.com/office/drawing/2014/main" id="{FDCC5EB1-7126-2DDF-6202-C7CCA9514552}"/>
              </a:ext>
            </a:extLst>
          </p:cNvPr>
          <p:cNvSpPr txBox="1">
            <a:spLocks noGrp="1" noChangeArrowheads="1"/>
          </p:cNvSpPr>
          <p:nvPr>
            <p:ph type="subTitle" sz="quarter" idx="1"/>
          </p:nvPr>
        </p:nvSpPr>
        <p:spPr>
          <a:xfrm>
            <a:off x="928328" y="5191046"/>
            <a:ext cx="7360823" cy="1241932"/>
          </a:xfrm>
          <a:gradFill rotWithShape="0">
            <a:gsLst>
              <a:gs pos="0">
                <a:srgbClr val="F5FBFE"/>
              </a:gs>
              <a:gs pos="74001">
                <a:srgbClr val="A2DAF6"/>
              </a:gs>
              <a:gs pos="83000">
                <a:srgbClr val="A2DAF6"/>
              </a:gs>
              <a:gs pos="100000">
                <a:srgbClr val="C1E6F9"/>
              </a:gs>
            </a:gsLst>
            <a:lin ang="5400000"/>
          </a:gradFill>
        </p:spPr>
        <p:txBody>
          <a:bodyPr>
            <a:normAutofit fontScale="77500" lnSpcReduction="20000"/>
          </a:bodyPr>
          <a:lstStyle/>
          <a:p>
            <a:pPr algn="ctr" eaLnBrk="1" hangingPunct="1"/>
            <a:r>
              <a:rPr lang="en-US" altLang="en-US" b="1">
                <a:solidFill>
                  <a:srgbClr val="898989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  <a:t>Presented by:</a:t>
            </a:r>
            <a:r>
              <a:rPr lang="en-US" altLang="en-US">
                <a:solidFill>
                  <a:srgbClr val="898989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  <a:t> Sanjeev Kumar Pandey	</a:t>
            </a:r>
          </a:p>
          <a:p>
            <a:pPr algn="ctr" eaLnBrk="1" hangingPunct="1"/>
            <a:r>
              <a:rPr lang="en-US" altLang="en-US" b="1">
                <a:solidFill>
                  <a:srgbClr val="898989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  <a:t>Enrolment No:</a:t>
            </a:r>
            <a:r>
              <a:rPr lang="en-US" altLang="en-US">
                <a:solidFill>
                  <a:srgbClr val="898989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  <a:t> MT23AAI001</a:t>
            </a:r>
          </a:p>
          <a:p>
            <a:pPr algn="ctr" eaLnBrk="1" hangingPunct="1"/>
            <a:r>
              <a:rPr lang="en-US" altLang="en-US" b="1">
                <a:solidFill>
                  <a:srgbClr val="898989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  <a:t>Project Guide:</a:t>
            </a:r>
            <a:r>
              <a:rPr lang="en-US" altLang="en-US">
                <a:solidFill>
                  <a:srgbClr val="898989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  <a:t> Dr. Amit Agrawal</a:t>
            </a:r>
          </a:p>
        </p:txBody>
      </p:sp>
      <p:pic>
        <p:nvPicPr>
          <p:cNvPr id="40964" name="Picture 4" descr="Picture 4">
            <a:extLst>
              <a:ext uri="{FF2B5EF4-FFF2-40B4-BE49-F238E27FC236}">
                <a16:creationId xmlns:a16="http://schemas.microsoft.com/office/drawing/2014/main" id="{A3DD3686-914F-0F5B-71C8-AE79682403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03489" y="497061"/>
            <a:ext cx="1179980" cy="12793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sp>
        <p:nvSpPr>
          <p:cNvPr id="40965" name="Subtitle 2">
            <a:extLst>
              <a:ext uri="{FF2B5EF4-FFF2-40B4-BE49-F238E27FC236}">
                <a16:creationId xmlns:a16="http://schemas.microsoft.com/office/drawing/2014/main" id="{420358C7-AC25-5975-3F92-C79BA405BC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2309" y="3806478"/>
            <a:ext cx="7359383" cy="462483"/>
          </a:xfrm>
          <a:prstGeom prst="rect">
            <a:avLst/>
          </a:prstGeom>
          <a:gradFill rotWithShape="0">
            <a:gsLst>
              <a:gs pos="0">
                <a:srgbClr val="F5FBFE"/>
              </a:gs>
              <a:gs pos="74001">
                <a:srgbClr val="A2DAF6"/>
              </a:gs>
              <a:gs pos="83000">
                <a:srgbClr val="A2DAF6"/>
              </a:gs>
              <a:gs pos="100000">
                <a:srgbClr val="C1E6F9"/>
              </a:gs>
            </a:gsLst>
            <a:lin ang="5400000"/>
          </a:gra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41493" rIns="41493"/>
          <a:lstStyle>
            <a:lvl1pPr defTabSz="503238">
              <a:spcBef>
                <a:spcPts val="600"/>
              </a:spcBef>
              <a:buClr>
                <a:srgbClr val="1287C3"/>
              </a:buClr>
              <a:buSzPct val="145000"/>
              <a:buFont typeface="Arial" panose="020B0604020202020204" pitchFamily="34" charset="0"/>
              <a:buChar char="•"/>
              <a:defRPr sz="2600">
                <a:solidFill>
                  <a:srgbClr val="000000"/>
                </a:solidFill>
                <a:latin typeface="Corbel" panose="020B0503020204020204" pitchFamily="34" charset="0"/>
                <a:ea typeface="Corbel" panose="020B0503020204020204" pitchFamily="34" charset="0"/>
                <a:cs typeface="Corbel" panose="020B0503020204020204" pitchFamily="34" charset="0"/>
                <a:sym typeface="Corbel" panose="020B0503020204020204" pitchFamily="34" charset="0"/>
              </a:defRPr>
            </a:lvl1pPr>
            <a:lvl2pPr marL="874713" indent="-371475" defTabSz="503238">
              <a:spcBef>
                <a:spcPts val="600"/>
              </a:spcBef>
              <a:buClr>
                <a:srgbClr val="1287C3"/>
              </a:buClr>
              <a:buSzPct val="145000"/>
              <a:buFont typeface="Arial" panose="020B0604020202020204" pitchFamily="34" charset="0"/>
              <a:buChar char="•"/>
              <a:defRPr sz="2600">
                <a:solidFill>
                  <a:srgbClr val="000000"/>
                </a:solidFill>
                <a:latin typeface="Corbel" panose="020B0503020204020204" pitchFamily="34" charset="0"/>
                <a:ea typeface="Corbel" panose="020B0503020204020204" pitchFamily="34" charset="0"/>
                <a:cs typeface="Corbel" panose="020B0503020204020204" pitchFamily="34" charset="0"/>
                <a:sym typeface="Corbel" panose="020B0503020204020204" pitchFamily="34" charset="0"/>
              </a:defRPr>
            </a:lvl2pPr>
            <a:lvl3pPr marL="1438275" indent="-430213" defTabSz="503238">
              <a:spcBef>
                <a:spcPts val="600"/>
              </a:spcBef>
              <a:buClr>
                <a:srgbClr val="1287C3"/>
              </a:buClr>
              <a:buSzPct val="145000"/>
              <a:buFont typeface="Arial" panose="020B0604020202020204" pitchFamily="34" charset="0"/>
              <a:buChar char="•"/>
              <a:defRPr sz="2600">
                <a:solidFill>
                  <a:srgbClr val="000000"/>
                </a:solidFill>
                <a:latin typeface="Corbel" panose="020B0503020204020204" pitchFamily="34" charset="0"/>
                <a:ea typeface="Corbel" panose="020B0503020204020204" pitchFamily="34" charset="0"/>
                <a:cs typeface="Corbel" panose="020B0503020204020204" pitchFamily="34" charset="0"/>
                <a:sym typeface="Corbel" panose="020B0503020204020204" pitchFamily="34" charset="0"/>
              </a:defRPr>
            </a:lvl3pPr>
            <a:lvl4pPr marL="1800225" indent="-288925" defTabSz="503238">
              <a:spcBef>
                <a:spcPts val="600"/>
              </a:spcBef>
              <a:buClr>
                <a:srgbClr val="1287C3"/>
              </a:buClr>
              <a:buSzPct val="145000"/>
              <a:buFont typeface="Arial" panose="020B0604020202020204" pitchFamily="34" charset="0"/>
              <a:buChar char="•"/>
              <a:defRPr sz="2600">
                <a:solidFill>
                  <a:srgbClr val="000000"/>
                </a:solidFill>
                <a:latin typeface="Corbel" panose="020B0503020204020204" pitchFamily="34" charset="0"/>
                <a:ea typeface="Corbel" panose="020B0503020204020204" pitchFamily="34" charset="0"/>
                <a:cs typeface="Corbel" panose="020B0503020204020204" pitchFamily="34" charset="0"/>
                <a:sym typeface="Corbel" panose="020B0503020204020204" pitchFamily="34" charset="0"/>
              </a:defRPr>
            </a:lvl4pPr>
            <a:lvl5pPr marL="2343150" indent="-327025" defTabSz="503238">
              <a:spcBef>
                <a:spcPts val="600"/>
              </a:spcBef>
              <a:buClr>
                <a:srgbClr val="1287C3"/>
              </a:buClr>
              <a:buSzPct val="145000"/>
              <a:buFont typeface="Arial" panose="020B0604020202020204" pitchFamily="34" charset="0"/>
              <a:buChar char="•"/>
              <a:defRPr sz="2600">
                <a:solidFill>
                  <a:srgbClr val="000000"/>
                </a:solidFill>
                <a:latin typeface="Corbel" panose="020B0503020204020204" pitchFamily="34" charset="0"/>
                <a:ea typeface="Corbel" panose="020B0503020204020204" pitchFamily="34" charset="0"/>
                <a:cs typeface="Corbel" panose="020B0503020204020204" pitchFamily="34" charset="0"/>
                <a:sym typeface="Corbel" panose="020B0503020204020204" pitchFamily="34" charset="0"/>
              </a:defRPr>
            </a:lvl5pPr>
            <a:lvl6pPr marL="2800350" indent="-327025" defTabSz="503238" eaLnBrk="0" fontAlgn="base" hangingPunct="0">
              <a:spcBef>
                <a:spcPts val="600"/>
              </a:spcBef>
              <a:spcAft>
                <a:spcPct val="0"/>
              </a:spcAft>
              <a:buClr>
                <a:srgbClr val="1287C3"/>
              </a:buClr>
              <a:buSzPct val="145000"/>
              <a:buFont typeface="Arial" panose="020B0604020202020204" pitchFamily="34" charset="0"/>
              <a:buChar char="•"/>
              <a:defRPr sz="2600">
                <a:solidFill>
                  <a:srgbClr val="000000"/>
                </a:solidFill>
                <a:latin typeface="Corbel" panose="020B0503020204020204" pitchFamily="34" charset="0"/>
                <a:ea typeface="Corbel" panose="020B0503020204020204" pitchFamily="34" charset="0"/>
                <a:cs typeface="Corbel" panose="020B0503020204020204" pitchFamily="34" charset="0"/>
                <a:sym typeface="Corbel" panose="020B0503020204020204" pitchFamily="34" charset="0"/>
              </a:defRPr>
            </a:lvl6pPr>
            <a:lvl7pPr marL="3257550" indent="-327025" defTabSz="503238" eaLnBrk="0" fontAlgn="base" hangingPunct="0">
              <a:spcBef>
                <a:spcPts val="600"/>
              </a:spcBef>
              <a:spcAft>
                <a:spcPct val="0"/>
              </a:spcAft>
              <a:buClr>
                <a:srgbClr val="1287C3"/>
              </a:buClr>
              <a:buSzPct val="145000"/>
              <a:buFont typeface="Arial" panose="020B0604020202020204" pitchFamily="34" charset="0"/>
              <a:buChar char="•"/>
              <a:defRPr sz="2600">
                <a:solidFill>
                  <a:srgbClr val="000000"/>
                </a:solidFill>
                <a:latin typeface="Corbel" panose="020B0503020204020204" pitchFamily="34" charset="0"/>
                <a:ea typeface="Corbel" panose="020B0503020204020204" pitchFamily="34" charset="0"/>
                <a:cs typeface="Corbel" panose="020B0503020204020204" pitchFamily="34" charset="0"/>
                <a:sym typeface="Corbel" panose="020B0503020204020204" pitchFamily="34" charset="0"/>
              </a:defRPr>
            </a:lvl7pPr>
            <a:lvl8pPr marL="3714750" indent="-327025" defTabSz="503238" eaLnBrk="0" fontAlgn="base" hangingPunct="0">
              <a:spcBef>
                <a:spcPts val="600"/>
              </a:spcBef>
              <a:spcAft>
                <a:spcPct val="0"/>
              </a:spcAft>
              <a:buClr>
                <a:srgbClr val="1287C3"/>
              </a:buClr>
              <a:buSzPct val="145000"/>
              <a:buFont typeface="Arial" panose="020B0604020202020204" pitchFamily="34" charset="0"/>
              <a:buChar char="•"/>
              <a:defRPr sz="2600">
                <a:solidFill>
                  <a:srgbClr val="000000"/>
                </a:solidFill>
                <a:latin typeface="Corbel" panose="020B0503020204020204" pitchFamily="34" charset="0"/>
                <a:ea typeface="Corbel" panose="020B0503020204020204" pitchFamily="34" charset="0"/>
                <a:cs typeface="Corbel" panose="020B0503020204020204" pitchFamily="34" charset="0"/>
                <a:sym typeface="Corbel" panose="020B0503020204020204" pitchFamily="34" charset="0"/>
              </a:defRPr>
            </a:lvl8pPr>
            <a:lvl9pPr marL="4171950" indent="-327025" defTabSz="503238" eaLnBrk="0" fontAlgn="base" hangingPunct="0">
              <a:spcBef>
                <a:spcPts val="600"/>
              </a:spcBef>
              <a:spcAft>
                <a:spcPct val="0"/>
              </a:spcAft>
              <a:buClr>
                <a:srgbClr val="1287C3"/>
              </a:buClr>
              <a:buSzPct val="145000"/>
              <a:buFont typeface="Arial" panose="020B0604020202020204" pitchFamily="34" charset="0"/>
              <a:buChar char="•"/>
              <a:defRPr sz="2600">
                <a:solidFill>
                  <a:srgbClr val="000000"/>
                </a:solidFill>
                <a:latin typeface="Corbel" panose="020B0503020204020204" pitchFamily="34" charset="0"/>
                <a:ea typeface="Corbel" panose="020B0503020204020204" pitchFamily="34" charset="0"/>
                <a:cs typeface="Corbel" panose="020B0503020204020204" pitchFamily="34" charset="0"/>
                <a:sym typeface="Corbel" panose="020B0503020204020204" pitchFamily="34" charset="0"/>
              </a:defRPr>
            </a:lvl9pPr>
          </a:lstStyle>
          <a:p>
            <a:pPr algn="ctr" eaLnBrk="1">
              <a:buClrTx/>
              <a:buSzTx/>
              <a:buFontTx/>
              <a:buNone/>
            </a:pPr>
            <a:r>
              <a:rPr lang="en-US" altLang="en-US" sz="1724" b="1" dirty="0">
                <a:solidFill>
                  <a:srgbClr val="898989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  <a:t>Evaluation-I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Human ID &amp; Activity Prediction using Wi-Fi Signals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/>
              <a:t>Leveraging Wi-Fi Channel State Information (CSI) and RSSI</a:t>
            </a:r>
            <a:endParaRPr lang="en-IN" dirty="0"/>
          </a:p>
          <a:p>
            <a:r>
              <a:rPr lang="en-GB" dirty="0"/>
              <a:t>Sanjeev Kumar Pandey</a:t>
            </a:r>
            <a:r>
              <a:rPr dirty="0"/>
              <a:t> | </a:t>
            </a:r>
            <a:r>
              <a:rPr lang="en-IN" dirty="0"/>
              <a:t>10-Sep-2025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Project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r>
              <a:rPr b="1" dirty="0"/>
              <a:t>Dataset Aim:</a:t>
            </a:r>
            <a:r>
              <a:rPr dirty="0"/>
              <a:t> Wi-Fi-based Human Activity Recognition (HAR) in indoor environments (LOS &amp; NLOS).</a:t>
            </a:r>
          </a:p>
          <a:p>
            <a:r>
              <a:rPr b="1" dirty="0"/>
              <a:t>Objective 1:</a:t>
            </a:r>
            <a:r>
              <a:rPr dirty="0"/>
              <a:t> Detect the activity action type from Wi-Fi signals.</a:t>
            </a:r>
          </a:p>
          <a:p>
            <a:r>
              <a:rPr b="1" dirty="0"/>
              <a:t>Objective 2:</a:t>
            </a:r>
            <a:r>
              <a:rPr dirty="0"/>
              <a:t> Detect the ID of the person performing the activity.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7F4A46-A213-6598-1CBA-9BC01FD8FA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15DE616-4AC0-1627-AD05-DD0BC498B3F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3451" y="274638"/>
            <a:ext cx="8537098" cy="6004782"/>
          </a:xfrm>
        </p:spPr>
      </p:pic>
    </p:spTree>
    <p:extLst>
      <p:ext uri="{BB962C8B-B14F-4D97-AF65-F5344CB8AC3E}">
        <p14:creationId xmlns:p14="http://schemas.microsoft.com/office/powerpoint/2010/main" val="7997921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88ECC0-AC8D-207E-58AB-0F2D3B7FF8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Planning overview</a:t>
            </a:r>
            <a:endParaRPr lang="en-GB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1B6CC3-41A5-CD5B-779A-BA3588AEBE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GB" b="1" dirty="0"/>
              <a:t>Literature Review &amp; Planning: </a:t>
            </a:r>
            <a:r>
              <a:rPr lang="en-GB" dirty="0"/>
              <a:t>Start with reading key papers, setting objectives, and technical planning.</a:t>
            </a:r>
          </a:p>
          <a:p>
            <a:r>
              <a:rPr lang="en-GB" b="1" dirty="0"/>
              <a:t>Data Understanding &amp; Preprocessing:</a:t>
            </a:r>
            <a:r>
              <a:rPr lang="en-GB" dirty="0"/>
              <a:t> Explore dataset, feature extraction, and handle CSI/RSSI preprocessing.</a:t>
            </a:r>
          </a:p>
          <a:p>
            <a:r>
              <a:rPr lang="en-GB" b="1" dirty="0"/>
              <a:t>Initial Coding &amp; Baseline Model (Eval 1):</a:t>
            </a:r>
            <a:r>
              <a:rPr lang="en-GB" dirty="0"/>
              <a:t> Set up coding, implement baseline models, run initial training and evaluation.</a:t>
            </a:r>
          </a:p>
          <a:p>
            <a:r>
              <a:rPr lang="en-GB" b="1" dirty="0"/>
              <a:t>Advanced Model Training &amp; Experimentation (Eval 2):</a:t>
            </a:r>
            <a:r>
              <a:rPr lang="en-GB" dirty="0"/>
              <a:t> Design and train advanced models (HAR, Human ID, multi-output), experiment, and tune.</a:t>
            </a:r>
          </a:p>
          <a:p>
            <a:r>
              <a:rPr lang="en-GB" b="1" dirty="0"/>
              <a:t>Analysis &amp; Integration:</a:t>
            </a:r>
            <a:r>
              <a:rPr lang="en-GB" dirty="0"/>
              <a:t> Compare results, integrate best-performing models, and conduct error analysis.</a:t>
            </a:r>
          </a:p>
          <a:p>
            <a:r>
              <a:rPr lang="en-GB" b="1" dirty="0"/>
              <a:t>Research Paper Drafting &amp; Documentation:</a:t>
            </a:r>
            <a:r>
              <a:rPr lang="en-GB" dirty="0"/>
              <a:t> Start documentation and research paper draft, plus slides for presentation.</a:t>
            </a:r>
          </a:p>
          <a:p>
            <a:r>
              <a:rPr lang="en-GB" b="1" dirty="0"/>
              <a:t>Final Report &amp; Presentation (Eval 3):</a:t>
            </a:r>
            <a:r>
              <a:rPr lang="en-GB" dirty="0"/>
              <a:t> Polish final report, prepare for oral </a:t>
            </a:r>
            <a:r>
              <a:rPr lang="en-GB" dirty="0" err="1"/>
              <a:t>defense</a:t>
            </a:r>
            <a:r>
              <a:rPr lang="en-GB" dirty="0"/>
              <a:t>, and respond to committee feedback.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477320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b="1" dirty="0"/>
              <a:t>Source Paper:</a:t>
            </a:r>
            <a:r>
              <a:rPr dirty="0"/>
              <a:t> 'A dataset for Wi-Fi-based human activity recognition in LOS and NLOS indoor environments'.</a:t>
            </a:r>
            <a:r>
              <a:rPr lang="en-IN" dirty="0"/>
              <a:t> https://pmc.ncbi.nlm.nih.gov/articles/PMC7704290/pdf/main.pdf</a:t>
            </a:r>
            <a:endParaRPr dirty="0"/>
          </a:p>
          <a:p>
            <a:r>
              <a:rPr b="1" dirty="0"/>
              <a:t>Authors:</a:t>
            </a:r>
            <a:r>
              <a:rPr dirty="0"/>
              <a:t> Baha’ A </a:t>
            </a:r>
            <a:r>
              <a:rPr dirty="0" err="1"/>
              <a:t>Alsaify</a:t>
            </a:r>
            <a:r>
              <a:rPr dirty="0"/>
              <a:t> et al., Jordan University of Science and Technology, German Jordanian University.</a:t>
            </a:r>
          </a:p>
          <a:p>
            <a:r>
              <a:rPr b="1" dirty="0"/>
              <a:t>Publication Date:</a:t>
            </a:r>
            <a:r>
              <a:rPr dirty="0"/>
              <a:t> November 18, 2020.</a:t>
            </a:r>
          </a:p>
          <a:p>
            <a:r>
              <a:rPr b="1" dirty="0"/>
              <a:t>Purpose:</a:t>
            </a:r>
            <a:r>
              <a:rPr dirty="0"/>
              <a:t> Benchmark dataset for HAR research across LOS &amp; NLOS settings.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Key Features of Dataset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endParaRPr dirty="0"/>
          </a:p>
          <a:p>
            <a:r>
              <a:rPr b="1" dirty="0"/>
              <a:t>Participants:</a:t>
            </a:r>
            <a:r>
              <a:rPr dirty="0"/>
              <a:t> 30 subjects (28 male, 2 female), age ~22.7 ± 2.95 years.</a:t>
            </a:r>
          </a:p>
          <a:p>
            <a:r>
              <a:rPr b="1" dirty="0"/>
              <a:t>Activities:</a:t>
            </a:r>
            <a:r>
              <a:rPr dirty="0"/>
              <a:t> 12 unique actions across 5 experiment classes.</a:t>
            </a:r>
          </a:p>
          <a:p>
            <a:r>
              <a:rPr b="1" dirty="0"/>
              <a:t>Environments:</a:t>
            </a:r>
            <a:r>
              <a:rPr dirty="0"/>
              <a:t> 2 LOS (lab, hallway) + 1 NLOS (wooden wall barrier).</a:t>
            </a:r>
          </a:p>
          <a:p>
            <a:r>
              <a:rPr b="1" dirty="0"/>
              <a:t>Data Types:</a:t>
            </a:r>
            <a:r>
              <a:rPr dirty="0"/>
              <a:t> Channel State Information (CSI) and RSSI values.</a:t>
            </a:r>
          </a:p>
          <a:p>
            <a:r>
              <a:rPr b="1" dirty="0"/>
              <a:t>File Naming:</a:t>
            </a:r>
            <a:r>
              <a:rPr dirty="0"/>
              <a:t> Ex_Sy_Cz_Ai_Tk.csv (e.g., E1_S04_C3_A7_T17.csv).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Feasibility of Human ID Prediction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endParaRPr dirty="0"/>
          </a:p>
          <a:p>
            <a:r>
              <a:rPr dirty="0"/>
              <a:t>Subject ID explicitly labeled in filenames (S1–S30).</a:t>
            </a:r>
          </a:p>
          <a:p>
            <a:r>
              <a:rPr dirty="0"/>
              <a:t>Biometric info (age, weight, height) subtly affects signals.</a:t>
            </a:r>
          </a:p>
          <a:p>
            <a:r>
              <a:rPr dirty="0"/>
              <a:t>CSI &amp; RSSI are sensitive to individual movement signatures.</a:t>
            </a:r>
          </a:p>
          <a:p>
            <a:r>
              <a:rPr dirty="0"/>
              <a:t>Rich dataset (3000 trials) suitable for Human ID modeling.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Use Case: Security &amp; Monitoring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r>
              <a:rPr dirty="0"/>
              <a:t>Traditional biometrics (faces, fingerprints) can be spoofed &amp; require active participation.</a:t>
            </a:r>
          </a:p>
          <a:p>
            <a:r>
              <a:rPr dirty="0"/>
              <a:t>Wi-Fi-based ID is passive, non-intrusive, and works in NLOS environments.</a:t>
            </a:r>
          </a:p>
          <a:p>
            <a:r>
              <a:rPr b="1" dirty="0"/>
              <a:t>Applications:</a:t>
            </a:r>
            <a:r>
              <a:rPr dirty="0"/>
              <a:t> High-security zones (ISRO, NASA, Parliament House), covert surveillance, medical alerts.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Target Variables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r>
              <a:rPr b="1" dirty="0"/>
              <a:t>HAR Activity Recognition: </a:t>
            </a:r>
            <a:r>
              <a:rPr dirty="0"/>
              <a:t>Classify 12 unique activities (A1–A12).</a:t>
            </a:r>
          </a:p>
          <a:p>
            <a:r>
              <a:rPr b="1" dirty="0"/>
              <a:t>Human ID:</a:t>
            </a:r>
            <a:r>
              <a:rPr dirty="0"/>
              <a:t> Identify 1 of 30 subjects (S1–S30).</a:t>
            </a:r>
          </a:p>
          <a:p>
            <a:r>
              <a:rPr b="1" dirty="0"/>
              <a:t>Input Data:</a:t>
            </a:r>
            <a:r>
              <a:rPr dirty="0"/>
              <a:t> CSI &amp; RSSI values sensitive to presence &amp; movement.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Model Development Approaches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 dirty="0"/>
              <a:t>Approach 1:</a:t>
            </a:r>
            <a:r>
              <a:rPr dirty="0"/>
              <a:t> Two Separate Models</a:t>
            </a:r>
            <a:endParaRPr lang="en-IN" dirty="0"/>
          </a:p>
          <a:p>
            <a:pPr lvl="1"/>
            <a:r>
              <a:rPr dirty="0"/>
              <a:t>HAR Activity Classifier (12 classes).</a:t>
            </a:r>
            <a:endParaRPr lang="en-IN" dirty="0"/>
          </a:p>
          <a:p>
            <a:pPr lvl="1"/>
            <a:r>
              <a:rPr dirty="0"/>
              <a:t>Human ID Classifier (30 subjects).</a:t>
            </a:r>
            <a:endParaRPr lang="en-IN" dirty="0"/>
          </a:p>
          <a:p>
            <a:r>
              <a:rPr b="1" dirty="0"/>
              <a:t>Approach 2:</a:t>
            </a:r>
            <a:r>
              <a:rPr dirty="0"/>
              <a:t> One Multi-Output Model</a:t>
            </a:r>
            <a:endParaRPr lang="en-IN" dirty="0"/>
          </a:p>
          <a:p>
            <a:pPr lvl="1"/>
            <a:r>
              <a:rPr dirty="0"/>
              <a:t>Single model with shared features.</a:t>
            </a:r>
            <a:endParaRPr lang="en-IN" dirty="0"/>
          </a:p>
          <a:p>
            <a:pPr lvl="1"/>
            <a:r>
              <a:rPr dirty="0"/>
              <a:t>Two output heads: Activity &amp; ID.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Conclusion &amp; 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Dataset provides rich labeled Wi-Fi signal data (CSI, RSSI).</a:t>
            </a:r>
          </a:p>
          <a:p>
            <a:r>
              <a:t>Suitable for both HAR and Human ID tasks.</a:t>
            </a:r>
          </a:p>
          <a:p>
            <a:r>
              <a:t>Choice: Separate models (simplicity) vs. Multi-output model (efficiency).</a:t>
            </a:r>
          </a:p>
          <a:p>
            <a:r>
              <a:t>Next Step: Implement and evaluate both approaches.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2B1AFA-B69D-8209-CF0E-11DE562DBF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itle 1">
            <a:extLst>
              <a:ext uri="{FF2B5EF4-FFF2-40B4-BE49-F238E27FC236}">
                <a16:creationId xmlns:a16="http://schemas.microsoft.com/office/drawing/2014/main" id="{AB3869B0-4FB0-7860-467C-7FBBC7E9F867}"/>
              </a:ext>
            </a:extLst>
          </p:cNvPr>
          <p:cNvSpPr txBox="1">
            <a:spLocks noGrp="1" noChangeArrowheads="1"/>
          </p:cNvSpPr>
          <p:nvPr>
            <p:ph type="ctrTitle"/>
          </p:nvPr>
        </p:nvSpPr>
        <p:spPr>
          <a:xfrm>
            <a:off x="928328" y="1872983"/>
            <a:ext cx="7360823" cy="1792301"/>
          </a:xfrm>
          <a:gradFill rotWithShape="0">
            <a:gsLst>
              <a:gs pos="0">
                <a:srgbClr val="F5FBFE"/>
              </a:gs>
              <a:gs pos="74001">
                <a:srgbClr val="A2DAF6"/>
              </a:gs>
              <a:gs pos="83000">
                <a:srgbClr val="A2DAF6"/>
              </a:gs>
              <a:gs pos="100000">
                <a:srgbClr val="C1E6F9"/>
              </a:gs>
            </a:gsLst>
            <a:lin ang="5400000"/>
          </a:gradFill>
        </p:spPr>
        <p:txBody>
          <a:bodyPr/>
          <a:lstStyle/>
          <a:p>
            <a:pPr algn="ctr" eaLnBrk="1" hangingPunct="1"/>
            <a:r>
              <a:rPr lang="en-US" altLang="en-US" sz="3993" dirty="0">
                <a:latin typeface="Corbel" panose="020B0503020204020204" pitchFamily="34" charset="0"/>
                <a:ea typeface="Corbel" panose="020B0503020204020204" pitchFamily="34" charset="0"/>
                <a:cs typeface="Corbel" panose="020B0503020204020204" pitchFamily="34" charset="0"/>
              </a:rPr>
              <a:t>MTECH AAI COHORT-1 Dissertation Project – Phase II</a:t>
            </a:r>
          </a:p>
        </p:txBody>
      </p:sp>
      <p:sp>
        <p:nvSpPr>
          <p:cNvPr id="40963" name="Subtitle 2">
            <a:extLst>
              <a:ext uri="{FF2B5EF4-FFF2-40B4-BE49-F238E27FC236}">
                <a16:creationId xmlns:a16="http://schemas.microsoft.com/office/drawing/2014/main" id="{4720A5C6-F00C-E8D3-7DC8-DDD750DE7AE9}"/>
              </a:ext>
            </a:extLst>
          </p:cNvPr>
          <p:cNvSpPr txBox="1">
            <a:spLocks noGrp="1" noChangeArrowheads="1"/>
          </p:cNvSpPr>
          <p:nvPr>
            <p:ph type="subTitle" sz="quarter" idx="1"/>
          </p:nvPr>
        </p:nvSpPr>
        <p:spPr>
          <a:xfrm>
            <a:off x="928328" y="4572000"/>
            <a:ext cx="7360823" cy="1432290"/>
          </a:xfrm>
          <a:gradFill rotWithShape="0">
            <a:gsLst>
              <a:gs pos="0">
                <a:srgbClr val="F5FBFE"/>
              </a:gs>
              <a:gs pos="74001">
                <a:srgbClr val="A2DAF6"/>
              </a:gs>
              <a:gs pos="83000">
                <a:srgbClr val="A2DAF6"/>
              </a:gs>
              <a:gs pos="100000">
                <a:srgbClr val="C1E6F9"/>
              </a:gs>
            </a:gsLst>
            <a:lin ang="5400000"/>
          </a:gradFill>
        </p:spPr>
        <p:txBody>
          <a:bodyPr>
            <a:normAutofit/>
          </a:bodyPr>
          <a:lstStyle/>
          <a:p>
            <a:pPr algn="ctr" eaLnBrk="1" hangingPunct="1"/>
            <a:r>
              <a:rPr lang="en-US" altLang="en-US" sz="1800" b="1" dirty="0">
                <a:solidFill>
                  <a:srgbClr val="898989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  <a:t>Presented by:</a:t>
            </a:r>
            <a:r>
              <a:rPr lang="en-US" altLang="en-US" sz="1800" dirty="0">
                <a:solidFill>
                  <a:srgbClr val="898989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  <a:t> Sanjeev Kumar Pandey	</a:t>
            </a:r>
          </a:p>
          <a:p>
            <a:pPr algn="ctr" eaLnBrk="1" hangingPunct="1"/>
            <a:r>
              <a:rPr lang="en-US" altLang="en-US" sz="1800" b="1" dirty="0">
                <a:solidFill>
                  <a:srgbClr val="898989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  <a:t>Enrolment No:</a:t>
            </a:r>
            <a:r>
              <a:rPr lang="en-US" altLang="en-US" sz="1800" dirty="0">
                <a:solidFill>
                  <a:srgbClr val="898989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  <a:t> MT23AAI001</a:t>
            </a:r>
          </a:p>
          <a:p>
            <a:pPr algn="ctr" eaLnBrk="1" hangingPunct="1"/>
            <a:r>
              <a:rPr lang="en-US" altLang="en-US" sz="1800" b="1" dirty="0">
                <a:solidFill>
                  <a:srgbClr val="898989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  <a:t>Project Guide:</a:t>
            </a:r>
            <a:r>
              <a:rPr lang="en-US" altLang="en-US" sz="1800" dirty="0">
                <a:solidFill>
                  <a:srgbClr val="898989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  <a:t> Dr. Amit Agrawal</a:t>
            </a:r>
          </a:p>
          <a:p>
            <a:pPr algn="ctr" eaLnBrk="1" hangingPunct="1"/>
            <a:r>
              <a:rPr lang="en-US" altLang="en-US" sz="1800" dirty="0">
                <a:solidFill>
                  <a:srgbClr val="898989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  <a:t>Date: 11-Oct-2025</a:t>
            </a:r>
          </a:p>
          <a:p>
            <a:pPr algn="ctr" eaLnBrk="1" hangingPunct="1"/>
            <a:endParaRPr lang="en-US" altLang="en-US" dirty="0">
              <a:solidFill>
                <a:srgbClr val="898989"/>
              </a:solidFill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pic>
        <p:nvPicPr>
          <p:cNvPr id="40964" name="Picture 4" descr="Picture 4">
            <a:extLst>
              <a:ext uri="{FF2B5EF4-FFF2-40B4-BE49-F238E27FC236}">
                <a16:creationId xmlns:a16="http://schemas.microsoft.com/office/drawing/2014/main" id="{5686DB45-F136-D6C2-2FED-8998CE9B5A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03489" y="497061"/>
            <a:ext cx="1179980" cy="12793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sp>
        <p:nvSpPr>
          <p:cNvPr id="40965" name="Subtitle 2">
            <a:extLst>
              <a:ext uri="{FF2B5EF4-FFF2-40B4-BE49-F238E27FC236}">
                <a16:creationId xmlns:a16="http://schemas.microsoft.com/office/drawing/2014/main" id="{E1854431-C2E5-21B9-2720-FB6CB58D9C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2309" y="3806478"/>
            <a:ext cx="7359383" cy="462483"/>
          </a:xfrm>
          <a:prstGeom prst="rect">
            <a:avLst/>
          </a:prstGeom>
          <a:gradFill rotWithShape="0">
            <a:gsLst>
              <a:gs pos="0">
                <a:srgbClr val="F5FBFE"/>
              </a:gs>
              <a:gs pos="74001">
                <a:srgbClr val="A2DAF6"/>
              </a:gs>
              <a:gs pos="83000">
                <a:srgbClr val="A2DAF6"/>
              </a:gs>
              <a:gs pos="100000">
                <a:srgbClr val="C1E6F9"/>
              </a:gs>
            </a:gsLst>
            <a:lin ang="5400000"/>
          </a:gra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41493" rIns="41493"/>
          <a:lstStyle>
            <a:lvl1pPr defTabSz="503238">
              <a:spcBef>
                <a:spcPts val="600"/>
              </a:spcBef>
              <a:buClr>
                <a:srgbClr val="1287C3"/>
              </a:buClr>
              <a:buSzPct val="145000"/>
              <a:buFont typeface="Arial" panose="020B0604020202020204" pitchFamily="34" charset="0"/>
              <a:buChar char="•"/>
              <a:defRPr sz="2600">
                <a:solidFill>
                  <a:srgbClr val="000000"/>
                </a:solidFill>
                <a:latin typeface="Corbel" panose="020B0503020204020204" pitchFamily="34" charset="0"/>
                <a:ea typeface="Corbel" panose="020B0503020204020204" pitchFamily="34" charset="0"/>
                <a:cs typeface="Corbel" panose="020B0503020204020204" pitchFamily="34" charset="0"/>
                <a:sym typeface="Corbel" panose="020B0503020204020204" pitchFamily="34" charset="0"/>
              </a:defRPr>
            </a:lvl1pPr>
            <a:lvl2pPr marL="874713" indent="-371475" defTabSz="503238">
              <a:spcBef>
                <a:spcPts val="600"/>
              </a:spcBef>
              <a:buClr>
                <a:srgbClr val="1287C3"/>
              </a:buClr>
              <a:buSzPct val="145000"/>
              <a:buFont typeface="Arial" panose="020B0604020202020204" pitchFamily="34" charset="0"/>
              <a:buChar char="•"/>
              <a:defRPr sz="2600">
                <a:solidFill>
                  <a:srgbClr val="000000"/>
                </a:solidFill>
                <a:latin typeface="Corbel" panose="020B0503020204020204" pitchFamily="34" charset="0"/>
                <a:ea typeface="Corbel" panose="020B0503020204020204" pitchFamily="34" charset="0"/>
                <a:cs typeface="Corbel" panose="020B0503020204020204" pitchFamily="34" charset="0"/>
                <a:sym typeface="Corbel" panose="020B0503020204020204" pitchFamily="34" charset="0"/>
              </a:defRPr>
            </a:lvl2pPr>
            <a:lvl3pPr marL="1438275" indent="-430213" defTabSz="503238">
              <a:spcBef>
                <a:spcPts val="600"/>
              </a:spcBef>
              <a:buClr>
                <a:srgbClr val="1287C3"/>
              </a:buClr>
              <a:buSzPct val="145000"/>
              <a:buFont typeface="Arial" panose="020B0604020202020204" pitchFamily="34" charset="0"/>
              <a:buChar char="•"/>
              <a:defRPr sz="2600">
                <a:solidFill>
                  <a:srgbClr val="000000"/>
                </a:solidFill>
                <a:latin typeface="Corbel" panose="020B0503020204020204" pitchFamily="34" charset="0"/>
                <a:ea typeface="Corbel" panose="020B0503020204020204" pitchFamily="34" charset="0"/>
                <a:cs typeface="Corbel" panose="020B0503020204020204" pitchFamily="34" charset="0"/>
                <a:sym typeface="Corbel" panose="020B0503020204020204" pitchFamily="34" charset="0"/>
              </a:defRPr>
            </a:lvl3pPr>
            <a:lvl4pPr marL="1800225" indent="-288925" defTabSz="503238">
              <a:spcBef>
                <a:spcPts val="600"/>
              </a:spcBef>
              <a:buClr>
                <a:srgbClr val="1287C3"/>
              </a:buClr>
              <a:buSzPct val="145000"/>
              <a:buFont typeface="Arial" panose="020B0604020202020204" pitchFamily="34" charset="0"/>
              <a:buChar char="•"/>
              <a:defRPr sz="2600">
                <a:solidFill>
                  <a:srgbClr val="000000"/>
                </a:solidFill>
                <a:latin typeface="Corbel" panose="020B0503020204020204" pitchFamily="34" charset="0"/>
                <a:ea typeface="Corbel" panose="020B0503020204020204" pitchFamily="34" charset="0"/>
                <a:cs typeface="Corbel" panose="020B0503020204020204" pitchFamily="34" charset="0"/>
                <a:sym typeface="Corbel" panose="020B0503020204020204" pitchFamily="34" charset="0"/>
              </a:defRPr>
            </a:lvl4pPr>
            <a:lvl5pPr marL="2343150" indent="-327025" defTabSz="503238">
              <a:spcBef>
                <a:spcPts val="600"/>
              </a:spcBef>
              <a:buClr>
                <a:srgbClr val="1287C3"/>
              </a:buClr>
              <a:buSzPct val="145000"/>
              <a:buFont typeface="Arial" panose="020B0604020202020204" pitchFamily="34" charset="0"/>
              <a:buChar char="•"/>
              <a:defRPr sz="2600">
                <a:solidFill>
                  <a:srgbClr val="000000"/>
                </a:solidFill>
                <a:latin typeface="Corbel" panose="020B0503020204020204" pitchFamily="34" charset="0"/>
                <a:ea typeface="Corbel" panose="020B0503020204020204" pitchFamily="34" charset="0"/>
                <a:cs typeface="Corbel" panose="020B0503020204020204" pitchFamily="34" charset="0"/>
                <a:sym typeface="Corbel" panose="020B0503020204020204" pitchFamily="34" charset="0"/>
              </a:defRPr>
            </a:lvl5pPr>
            <a:lvl6pPr marL="2800350" indent="-327025" defTabSz="503238" eaLnBrk="0" fontAlgn="base" hangingPunct="0">
              <a:spcBef>
                <a:spcPts val="600"/>
              </a:spcBef>
              <a:spcAft>
                <a:spcPct val="0"/>
              </a:spcAft>
              <a:buClr>
                <a:srgbClr val="1287C3"/>
              </a:buClr>
              <a:buSzPct val="145000"/>
              <a:buFont typeface="Arial" panose="020B0604020202020204" pitchFamily="34" charset="0"/>
              <a:buChar char="•"/>
              <a:defRPr sz="2600">
                <a:solidFill>
                  <a:srgbClr val="000000"/>
                </a:solidFill>
                <a:latin typeface="Corbel" panose="020B0503020204020204" pitchFamily="34" charset="0"/>
                <a:ea typeface="Corbel" panose="020B0503020204020204" pitchFamily="34" charset="0"/>
                <a:cs typeface="Corbel" panose="020B0503020204020204" pitchFamily="34" charset="0"/>
                <a:sym typeface="Corbel" panose="020B0503020204020204" pitchFamily="34" charset="0"/>
              </a:defRPr>
            </a:lvl6pPr>
            <a:lvl7pPr marL="3257550" indent="-327025" defTabSz="503238" eaLnBrk="0" fontAlgn="base" hangingPunct="0">
              <a:spcBef>
                <a:spcPts val="600"/>
              </a:spcBef>
              <a:spcAft>
                <a:spcPct val="0"/>
              </a:spcAft>
              <a:buClr>
                <a:srgbClr val="1287C3"/>
              </a:buClr>
              <a:buSzPct val="145000"/>
              <a:buFont typeface="Arial" panose="020B0604020202020204" pitchFamily="34" charset="0"/>
              <a:buChar char="•"/>
              <a:defRPr sz="2600">
                <a:solidFill>
                  <a:srgbClr val="000000"/>
                </a:solidFill>
                <a:latin typeface="Corbel" panose="020B0503020204020204" pitchFamily="34" charset="0"/>
                <a:ea typeface="Corbel" panose="020B0503020204020204" pitchFamily="34" charset="0"/>
                <a:cs typeface="Corbel" panose="020B0503020204020204" pitchFamily="34" charset="0"/>
                <a:sym typeface="Corbel" panose="020B0503020204020204" pitchFamily="34" charset="0"/>
              </a:defRPr>
            </a:lvl7pPr>
            <a:lvl8pPr marL="3714750" indent="-327025" defTabSz="503238" eaLnBrk="0" fontAlgn="base" hangingPunct="0">
              <a:spcBef>
                <a:spcPts val="600"/>
              </a:spcBef>
              <a:spcAft>
                <a:spcPct val="0"/>
              </a:spcAft>
              <a:buClr>
                <a:srgbClr val="1287C3"/>
              </a:buClr>
              <a:buSzPct val="145000"/>
              <a:buFont typeface="Arial" panose="020B0604020202020204" pitchFamily="34" charset="0"/>
              <a:buChar char="•"/>
              <a:defRPr sz="2600">
                <a:solidFill>
                  <a:srgbClr val="000000"/>
                </a:solidFill>
                <a:latin typeface="Corbel" panose="020B0503020204020204" pitchFamily="34" charset="0"/>
                <a:ea typeface="Corbel" panose="020B0503020204020204" pitchFamily="34" charset="0"/>
                <a:cs typeface="Corbel" panose="020B0503020204020204" pitchFamily="34" charset="0"/>
                <a:sym typeface="Corbel" panose="020B0503020204020204" pitchFamily="34" charset="0"/>
              </a:defRPr>
            </a:lvl8pPr>
            <a:lvl9pPr marL="4171950" indent="-327025" defTabSz="503238" eaLnBrk="0" fontAlgn="base" hangingPunct="0">
              <a:spcBef>
                <a:spcPts val="600"/>
              </a:spcBef>
              <a:spcAft>
                <a:spcPct val="0"/>
              </a:spcAft>
              <a:buClr>
                <a:srgbClr val="1287C3"/>
              </a:buClr>
              <a:buSzPct val="145000"/>
              <a:buFont typeface="Arial" panose="020B0604020202020204" pitchFamily="34" charset="0"/>
              <a:buChar char="•"/>
              <a:defRPr sz="2600">
                <a:solidFill>
                  <a:srgbClr val="000000"/>
                </a:solidFill>
                <a:latin typeface="Corbel" panose="020B0503020204020204" pitchFamily="34" charset="0"/>
                <a:ea typeface="Corbel" panose="020B0503020204020204" pitchFamily="34" charset="0"/>
                <a:cs typeface="Corbel" panose="020B0503020204020204" pitchFamily="34" charset="0"/>
                <a:sym typeface="Corbel" panose="020B0503020204020204" pitchFamily="34" charset="0"/>
              </a:defRPr>
            </a:lvl9pPr>
          </a:lstStyle>
          <a:p>
            <a:pPr algn="ctr" eaLnBrk="1">
              <a:buClrTx/>
              <a:buSzTx/>
              <a:buFontTx/>
              <a:buNone/>
            </a:pPr>
            <a:r>
              <a:rPr lang="en-US" altLang="en-US" sz="1724" b="1" dirty="0">
                <a:solidFill>
                  <a:srgbClr val="898989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  <a:t>Evaluation-II</a:t>
            </a:r>
          </a:p>
        </p:txBody>
      </p:sp>
    </p:spTree>
    <p:extLst>
      <p:ext uri="{BB962C8B-B14F-4D97-AF65-F5344CB8AC3E}">
        <p14:creationId xmlns:p14="http://schemas.microsoft.com/office/powerpoint/2010/main" val="31216722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1DC596-0483-D103-350E-27BDE12A1C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1DAACA-8902-D931-43F3-B5B42DFA78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1F9533A-3F13-58E0-EF2C-FFFB0275E0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4274" y="274638"/>
            <a:ext cx="6875451" cy="59719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65032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EA248F-75E2-9BF8-BBB7-172E8E1C44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7C130E-0F09-976D-6A89-E98D158EB9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06504C2-78F6-E1FA-7261-49322CAF52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5284" y="819998"/>
            <a:ext cx="7573432" cy="5306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14874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E99EA5-57DE-DB04-C788-6CD6F9FA71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Project Objective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EE3C58-E039-7F92-1112-A2DF84446B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6740" y="1600200"/>
            <a:ext cx="8229600" cy="4525963"/>
          </a:xfrm>
        </p:spPr>
        <p:txBody>
          <a:bodyPr/>
          <a:lstStyle/>
          <a:p>
            <a:pPr marL="0" indent="0">
              <a:buNone/>
            </a:pPr>
            <a:r>
              <a:rPr lang="en-IN" sz="1800" dirty="0"/>
              <a:t>The project performs a comparative study across four distinct DL architectures, all designed to process both the time-series CSI sequence and the auxiliary metadata sequence simultaneously.</a:t>
            </a:r>
            <a:endParaRPr lang="en-GB" sz="1800" dirty="0"/>
          </a:p>
          <a:p>
            <a:endParaRPr lang="en-GB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6D99F99-8449-CB84-590B-0E671E0161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9835649"/>
              </p:ext>
            </p:extLst>
          </p:nvPr>
        </p:nvGraphicFramePr>
        <p:xfrm>
          <a:off x="497660" y="2641092"/>
          <a:ext cx="8003024" cy="35661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7975">
                  <a:extLst>
                    <a:ext uri="{9D8B030D-6E8A-4147-A177-3AD203B41FA5}">
                      <a16:colId xmlns:a16="http://schemas.microsoft.com/office/drawing/2014/main" val="131300539"/>
                    </a:ext>
                  </a:extLst>
                </a:gridCol>
                <a:gridCol w="1294726">
                  <a:extLst>
                    <a:ext uri="{9D8B030D-6E8A-4147-A177-3AD203B41FA5}">
                      <a16:colId xmlns:a16="http://schemas.microsoft.com/office/drawing/2014/main" val="1153110472"/>
                    </a:ext>
                  </a:extLst>
                </a:gridCol>
                <a:gridCol w="1100517">
                  <a:extLst>
                    <a:ext uri="{9D8B030D-6E8A-4147-A177-3AD203B41FA5}">
                      <a16:colId xmlns:a16="http://schemas.microsoft.com/office/drawing/2014/main" val="4057886831"/>
                    </a:ext>
                  </a:extLst>
                </a:gridCol>
                <a:gridCol w="3499806">
                  <a:extLst>
                    <a:ext uri="{9D8B030D-6E8A-4147-A177-3AD203B41FA5}">
                      <a16:colId xmlns:a16="http://schemas.microsoft.com/office/drawing/2014/main" val="100707585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050" b="1" kern="0" dirty="0">
                          <a:effectLst/>
                          <a:latin typeface="+mj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Model Name</a:t>
                      </a:r>
                      <a:endParaRPr lang="en-GB" sz="1050" kern="100" dirty="0">
                        <a:effectLst/>
                        <a:latin typeface="+mj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050" b="1" kern="0" dirty="0">
                          <a:effectLst/>
                          <a:latin typeface="+mj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CSI Processing Core</a:t>
                      </a:r>
                      <a:endParaRPr lang="en-GB" sz="1050" kern="100" dirty="0">
                        <a:effectLst/>
                        <a:latin typeface="+mj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050" b="1" kern="0" dirty="0">
                          <a:effectLst/>
                          <a:latin typeface="+mj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Metadata Processing Core</a:t>
                      </a:r>
                      <a:endParaRPr lang="en-GB" sz="1050" kern="100" dirty="0">
                        <a:effectLst/>
                        <a:latin typeface="+mj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050" b="1" kern="0" dirty="0">
                          <a:effectLst/>
                          <a:latin typeface="+mj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Key Features</a:t>
                      </a:r>
                      <a:endParaRPr lang="en-GB" sz="1050" kern="100" dirty="0">
                        <a:effectLst/>
                        <a:latin typeface="+mj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/>
                </a:tc>
                <a:extLst>
                  <a:ext uri="{0D108BD9-81ED-4DB2-BD59-A6C34878D82A}">
                    <a16:rowId xmlns:a16="http://schemas.microsoft.com/office/drawing/2014/main" val="39922178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600" b="1" kern="1200" dirty="0" err="1">
                          <a:solidFill>
                            <a:schemeClr val="dk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CSILSTMNet</a:t>
                      </a:r>
                      <a:endParaRPr lang="en-GB" sz="16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0" dirty="0">
                          <a:effectLst/>
                          <a:latin typeface="+mj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Standard LSTM</a:t>
                      </a:r>
                      <a:endParaRPr lang="en-GB" sz="1400" kern="100" dirty="0">
                        <a:effectLst/>
                        <a:latin typeface="+mj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0" dirty="0">
                          <a:effectLst/>
                          <a:latin typeface="+mj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Standard LSTM</a:t>
                      </a:r>
                      <a:endParaRPr lang="en-GB" sz="1400" kern="100" dirty="0">
                        <a:effectLst/>
                        <a:latin typeface="+mj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0" dirty="0">
                          <a:effectLst/>
                          <a:latin typeface="+mj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Uses the last hidden state from two parallel LSTMs (one for CSI, one for Meta).</a:t>
                      </a:r>
                      <a:endParaRPr lang="en-GB" sz="1400" kern="100" dirty="0">
                        <a:effectLst/>
                        <a:latin typeface="+mj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/>
                </a:tc>
                <a:extLst>
                  <a:ext uri="{0D108BD9-81ED-4DB2-BD59-A6C34878D82A}">
                    <a16:rowId xmlns:a16="http://schemas.microsoft.com/office/drawing/2014/main" val="36185265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b="1" kern="0" dirty="0">
                          <a:effectLst/>
                          <a:latin typeface="+mj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DenseNet1D</a:t>
                      </a:r>
                      <a:endParaRPr lang="en-GB" sz="1600" kern="100" dirty="0">
                        <a:effectLst/>
                        <a:latin typeface="+mj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0" dirty="0">
                          <a:effectLst/>
                          <a:latin typeface="+mj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Dense Block 1D CNN</a:t>
                      </a:r>
                      <a:endParaRPr lang="en-GB" sz="1400" kern="100" dirty="0">
                        <a:effectLst/>
                        <a:latin typeface="+mj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0" dirty="0">
                          <a:effectLst/>
                          <a:latin typeface="+mj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Bidirectional LSTM</a:t>
                      </a:r>
                      <a:endParaRPr lang="en-GB" sz="1400" kern="100" dirty="0">
                        <a:effectLst/>
                        <a:latin typeface="+mj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/>
                </a:tc>
                <a:tc>
                  <a:txBody>
                    <a:bodyPr/>
                    <a:lstStyle/>
                    <a:p>
                      <a:r>
                        <a:rPr lang="en-IN" sz="1400" kern="1200" dirty="0">
                          <a:solidFill>
                            <a:schemeClr val="dk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Uses 1D CNN blocks (DenseBlock1D) followed by global pooling for CSI, combined with a Bi-LSTM for metadata.</a:t>
                      </a:r>
                      <a:endParaRPr lang="en-GB" sz="1400" dirty="0">
                        <a:latin typeface="+mj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70415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600" b="1" kern="1200" dirty="0">
                          <a:solidFill>
                            <a:schemeClr val="dk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EfficientNet1DLSTM</a:t>
                      </a:r>
                      <a:endParaRPr lang="en-GB" sz="16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0" dirty="0">
                          <a:effectLst/>
                          <a:latin typeface="+mj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MBConv1D Blocks</a:t>
                      </a:r>
                      <a:endParaRPr lang="en-GB" sz="1400" kern="100" dirty="0">
                        <a:effectLst/>
                        <a:latin typeface="+mj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0" dirty="0">
                          <a:effectLst/>
                          <a:latin typeface="+mj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Bidirectional LSTM</a:t>
                      </a:r>
                      <a:endParaRPr lang="en-GB" sz="1400" kern="100" dirty="0">
                        <a:effectLst/>
                        <a:latin typeface="+mj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/>
                </a:tc>
                <a:tc>
                  <a:txBody>
                    <a:bodyPr/>
                    <a:lstStyle/>
                    <a:p>
                      <a:r>
                        <a:rPr lang="en-IN" sz="1400" kern="1200" dirty="0">
                          <a:solidFill>
                            <a:schemeClr val="dk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Leverages </a:t>
                      </a:r>
                      <a:r>
                        <a:rPr lang="en-IN" sz="1400" b="1" kern="1200" dirty="0">
                          <a:solidFill>
                            <a:schemeClr val="dk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Mobile Inverted Bottleneck (</a:t>
                      </a:r>
                      <a:r>
                        <a:rPr lang="en-IN" sz="1400" b="1" kern="1200" dirty="0" err="1">
                          <a:solidFill>
                            <a:schemeClr val="dk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MBConv</a:t>
                      </a:r>
                      <a:r>
                        <a:rPr lang="en-IN" sz="1400" b="1" kern="1200" dirty="0">
                          <a:solidFill>
                            <a:schemeClr val="dk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)</a:t>
                      </a:r>
                      <a:r>
                        <a:rPr lang="en-IN" sz="1400" kern="1200" dirty="0">
                          <a:solidFill>
                            <a:schemeClr val="dk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 blocks (stem, mbconv1-3) designed for efficiency, combined with a Bi-LSTM.</a:t>
                      </a:r>
                      <a:endParaRPr lang="en-GB" sz="1400" dirty="0">
                        <a:latin typeface="+mj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96002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b="1" kern="0" dirty="0">
                          <a:effectLst/>
                          <a:latin typeface="+mj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MobileNetV3_1D_LSTM</a:t>
                      </a:r>
                      <a:endParaRPr lang="en-GB" sz="1600" kern="100" dirty="0">
                        <a:effectLst/>
                        <a:latin typeface="+mj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/>
                </a:tc>
                <a:tc>
                  <a:txBody>
                    <a:bodyPr/>
                    <a:lstStyle/>
                    <a:p>
                      <a:r>
                        <a:rPr lang="en-IN" sz="1400" kern="1200" dirty="0">
                          <a:solidFill>
                            <a:schemeClr val="dk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MobileNetV3 Block 1D</a:t>
                      </a:r>
                      <a:endParaRPr lang="en-GB" sz="14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0" dirty="0">
                          <a:effectLst/>
                          <a:latin typeface="+mj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Bidirectional LSTM</a:t>
                      </a:r>
                      <a:endParaRPr lang="en-GB" sz="1400" kern="100" dirty="0">
                        <a:effectLst/>
                        <a:latin typeface="+mj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0" dirty="0">
                          <a:effectLst/>
                          <a:latin typeface="+mj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Incorporates specialized blocks (including </a:t>
                      </a:r>
                      <a:r>
                        <a:rPr lang="en-IN" sz="1400" kern="0" dirty="0" err="1">
                          <a:effectLst/>
                          <a:latin typeface="+mj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depthwise</a:t>
                      </a:r>
                      <a:r>
                        <a:rPr lang="en-IN" sz="1400" kern="0" dirty="0">
                          <a:effectLst/>
                          <a:latin typeface="+mj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separable convolutions and Squeeze-and-Excitation (SE) layers) optimized for mobile/efficient computing, combined with a Bi-LSTM.</a:t>
                      </a:r>
                      <a:endParaRPr lang="en-GB" sz="1400" kern="100" dirty="0">
                        <a:effectLst/>
                        <a:latin typeface="+mj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/>
                </a:tc>
                <a:extLst>
                  <a:ext uri="{0D108BD9-81ED-4DB2-BD59-A6C34878D82A}">
                    <a16:rowId xmlns:a16="http://schemas.microsoft.com/office/drawing/2014/main" val="19822149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868760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3EE305-B15F-3310-1FC2-36CE18B35B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 err="1"/>
              <a:t>MLflow</a:t>
            </a:r>
            <a:r>
              <a:rPr lang="en-GB" b="1" dirty="0"/>
              <a:t> Integration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B4B239-B5A5-03B6-A861-E76C71CF74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GB" b="1" dirty="0"/>
              <a:t>Feature Focus:</a:t>
            </a:r>
            <a:r>
              <a:rPr lang="en-GB" dirty="0"/>
              <a:t> Seamless integration with </a:t>
            </a:r>
            <a:r>
              <a:rPr lang="en-GB" b="1" dirty="0" err="1"/>
              <a:t>MLflow</a:t>
            </a:r>
            <a:r>
              <a:rPr lang="en-GB" dirty="0"/>
              <a:t> for experiment tracking and performance comparison.</a:t>
            </a:r>
          </a:p>
          <a:p>
            <a:r>
              <a:rPr lang="en-GB" b="1" dirty="0"/>
              <a:t>What It Does:</a:t>
            </a:r>
            <a:endParaRPr lang="en-GB" dirty="0"/>
          </a:p>
          <a:p>
            <a:pPr lvl="1"/>
            <a:r>
              <a:rPr lang="en-GB" dirty="0"/>
              <a:t>Automatically logs </a:t>
            </a:r>
            <a:r>
              <a:rPr lang="en-GB" b="1" dirty="0"/>
              <a:t>training runs</a:t>
            </a:r>
            <a:r>
              <a:rPr lang="en-GB" dirty="0"/>
              <a:t> for all four models — DenseNet1D, EfficientNet1DLSTM, MobileNetV3_1D_LSTM, and LSTM.</a:t>
            </a:r>
          </a:p>
          <a:p>
            <a:pPr lvl="1"/>
            <a:r>
              <a:rPr lang="en-GB" dirty="0"/>
              <a:t>Captures </a:t>
            </a:r>
            <a:r>
              <a:rPr lang="en-GB" b="1" dirty="0"/>
              <a:t>hyperparameters, metrics (Accuracy, F1, Precision, Recall, AUC),</a:t>
            </a:r>
            <a:r>
              <a:rPr lang="en-GB" dirty="0"/>
              <a:t> and </a:t>
            </a:r>
            <a:r>
              <a:rPr lang="en-GB" b="1" dirty="0"/>
              <a:t>loss curves</a:t>
            </a:r>
            <a:r>
              <a:rPr lang="en-GB" dirty="0"/>
              <a:t> per epoch.</a:t>
            </a:r>
          </a:p>
          <a:p>
            <a:r>
              <a:rPr lang="en-GB" b="1" dirty="0"/>
              <a:t>Why It Matters:</a:t>
            </a:r>
            <a:endParaRPr lang="en-GB" dirty="0"/>
          </a:p>
          <a:p>
            <a:pPr lvl="1"/>
            <a:r>
              <a:rPr lang="en-GB" dirty="0"/>
              <a:t>Enables </a:t>
            </a:r>
            <a:r>
              <a:rPr lang="en-GB" b="1" dirty="0"/>
              <a:t>side-by-side model comparison</a:t>
            </a:r>
            <a:r>
              <a:rPr lang="en-GB" dirty="0"/>
              <a:t> through </a:t>
            </a:r>
            <a:r>
              <a:rPr lang="en-GB" dirty="0" err="1"/>
              <a:t>MLflow</a:t>
            </a:r>
            <a:r>
              <a:rPr lang="en-GB" dirty="0"/>
              <a:t> dashboards and visual graphs.</a:t>
            </a:r>
          </a:p>
          <a:p>
            <a:pPr lvl="1"/>
            <a:r>
              <a:rPr lang="en-GB" dirty="0"/>
              <a:t>Ensures </a:t>
            </a:r>
            <a:r>
              <a:rPr lang="en-GB" b="1" dirty="0"/>
              <a:t>reproducibility</a:t>
            </a:r>
            <a:r>
              <a:rPr lang="en-GB" dirty="0"/>
              <a:t> and transparency of experiments.</a:t>
            </a:r>
          </a:p>
          <a:p>
            <a:pPr lvl="1"/>
            <a:r>
              <a:rPr lang="en-GB" dirty="0"/>
              <a:t>Simplifies identification of the </a:t>
            </a:r>
            <a:r>
              <a:rPr lang="en-GB" b="1" dirty="0"/>
              <a:t>best-performing model</a:t>
            </a:r>
            <a:r>
              <a:rPr lang="en-GB" dirty="0"/>
              <a:t> over 100 epochs.</a:t>
            </a:r>
          </a:p>
          <a:p>
            <a:r>
              <a:rPr lang="en-GB" b="1" dirty="0"/>
              <a:t>Outcome:</a:t>
            </a:r>
            <a:r>
              <a:rPr lang="en-GB" dirty="0"/>
              <a:t> Data-driven insights for model selection and performance optimization.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9875166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0C1421-C036-AE19-AB16-2E00066C81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CSI Data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8C34B50-2950-516C-49C9-C0D4E443D92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55000" lnSpcReduction="20000"/>
              </a:bodyPr>
              <a:lstStyle/>
              <a:p>
                <a:pPr marL="0" indent="0">
                  <a:buNone/>
                </a:pPr>
                <a:r>
                  <a:rPr lang="en-GB" dirty="0"/>
                  <a:t>1️⃣ </a:t>
                </a:r>
                <a:r>
                  <a:rPr lang="en-GB" b="1" dirty="0"/>
                  <a:t>CSI Data Overview </a:t>
                </a:r>
              </a:p>
              <a:p>
                <a:pPr marL="0" indent="0">
                  <a:buNone/>
                </a:pPr>
                <a:r>
                  <a:rPr lang="en-GB" dirty="0"/>
                  <a:t>Convert raw </a:t>
                </a:r>
                <a:r>
                  <a:rPr lang="en-GB" dirty="0" err="1"/>
                  <a:t>WiFi</a:t>
                </a:r>
                <a:r>
                  <a:rPr lang="en-GB" dirty="0"/>
                  <a:t> Channel State Information (CSI) signals into numerical features suitable for model training.</a:t>
                </a:r>
              </a:p>
              <a:p>
                <a:r>
                  <a:rPr lang="en-GB" b="1" dirty="0"/>
                  <a:t>Nature of CSI:</a:t>
                </a:r>
                <a:r>
                  <a:rPr lang="en-GB" dirty="0"/>
                  <a:t> Each CSI sample is a </a:t>
                </a:r>
                <a:r>
                  <a:rPr lang="en-GB" b="1" dirty="0"/>
                  <a:t>complex number</a:t>
                </a:r>
                <a:r>
                  <a:rPr lang="en-GB" dirty="0"/>
                  <a:t> representing the amplitude and phase response of each subcarrier in a </a:t>
                </a:r>
                <a:r>
                  <a:rPr lang="en-GB" dirty="0" err="1"/>
                  <a:t>WiFi</a:t>
                </a:r>
                <a:r>
                  <a:rPr lang="en-GB" dirty="0"/>
                  <a:t> link.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sSup>
                        <m:sSup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𝑗</m:t>
                          </m:r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e>
                            <m:sub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d>
                            <m:d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sup>
                      </m:sSup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GB" i="1"/>
                        <m:t>Re</m:t>
                      </m:r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d>
                            <m:d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ar-AE" i="1">
                          <a:latin typeface="Cambria Math" panose="02040503050406030204" pitchFamily="18" charset="0"/>
                        </a:rPr>
                        <m:t>𝑗</m:t>
                      </m:r>
                      <m:r>
                        <m:rPr>
                          <m:nor/>
                        </m:rPr>
                        <a:rPr lang="ar-AE" i="1"/>
                        <m:t> </m:t>
                      </m:r>
                      <m:r>
                        <m:rPr>
                          <m:nor/>
                        </m:rPr>
                        <a:rPr lang="en-GB" i="1"/>
                        <m:t>Im</m:t>
                      </m:r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d>
                            <m:d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ar-AE" b="0" dirty="0"/>
              </a:p>
              <a:p>
                <a:r>
                  <a:rPr lang="en-GB" dirty="0"/>
                  <a:t>Here: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ar-AE" dirty="0"/>
                  <a:t>: </a:t>
                </a:r>
                <a:r>
                  <a:rPr lang="en-GB" dirty="0"/>
                  <a:t>amplitude (signal strength)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ar-AE" dirty="0"/>
                  <a:t>: </a:t>
                </a:r>
                <a:r>
                  <a:rPr lang="en-GB" dirty="0"/>
                  <a:t>phase shift caused by environment/human presence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GB" dirty="0"/>
                  <a:t>: subcarrier index,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GB" dirty="0"/>
                  <a:t>: time index</a:t>
                </a:r>
              </a:p>
              <a:p>
                <a:pPr marL="0" indent="0">
                  <a:buNone/>
                </a:pPr>
                <a:br>
                  <a:rPr lang="en-GB" dirty="0"/>
                </a:br>
                <a:r>
                  <a:rPr lang="en-GB" b="1" dirty="0"/>
                  <a:t>2️⃣ Feature Computation</a:t>
                </a:r>
              </a:p>
              <a:p>
                <a:r>
                  <a:rPr lang="en-GB" b="1" dirty="0"/>
                  <a:t>Amplitude extraction:</a:t>
                </a:r>
                <a:r>
                  <a:rPr lang="en-GB" dirty="0"/>
                  <a:t> converts complex CSI to real-valued form: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>
                          <a:latin typeface="Cambria Math" panose="02040503050406030204" pitchFamily="18" charset="0"/>
                        </a:rPr>
                        <m:t>∣</m:t>
                      </m:r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∣=</m:t>
                      </m:r>
                      <m:rad>
                        <m:radPr>
                          <m:degHide m:val="on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d>
                            <m:dPr>
                              <m:endChr m:val=""/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nor/>
                                </m:rPr>
                                <a:rPr lang="en-GB" i="1"/>
                                <m:t>Re</m:t>
                              </m:r>
                              <m:d>
                                <m:d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  <m:t>h</m:t>
                                      </m:r>
                                    </m:e>
                                    <m:sub>
                                      <m: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e>
                                  </m:d>
                                </m:e>
                              </m:d>
                              <m:sSup>
                                <m:sSup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"/>
                                      <m:endChr m:val=""/>
                                      <m:ctrlP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ar-AE"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ar-AE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d>
                                <m:dPr>
                                  <m:endChr m:val=""/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nor/>
                                    </m:rPr>
                                    <a:rPr lang="en-GB" i="1"/>
                                    <m:t>Im</m:t>
                                  </m:r>
                                  <m:d>
                                    <m:dPr>
                                      <m:ctrlP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ar-AE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ar-AE" i="1">
                                              <a:latin typeface="Cambria Math" panose="02040503050406030204" pitchFamily="18" charset="0"/>
                                            </a:rPr>
                                            <m:t>h</m:t>
                                          </m:r>
                                        </m:e>
                                        <m:sub>
                                          <m:r>
                                            <a:rPr lang="ar-AE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d>
                                        <m:dPr>
                                          <m:ctrlPr>
                                            <a:rPr lang="ar-AE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ar-AE" i="1"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e>
                                      </m:d>
                                    </m:e>
                                  </m:d>
                                  <m:sSup>
                                    <m:sSupPr>
                                      <m:ctrlP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begChr m:val=""/>
                                          <m:endChr m:val=""/>
                                          <m:ctrlPr>
                                            <a:rPr lang="ar-AE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ar-AE">
                                              <a:latin typeface="Cambria Math" panose="02040503050406030204" pitchFamily="18" charset="0"/>
                                            </a:rPr>
                                            <m:t>)</m:t>
                                          </m:r>
                                        </m:e>
                                      </m:d>
                                    </m:e>
                                    <m:sup>
                                      <m:r>
                                        <a:rPr lang="ar-AE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d>
                            </m:e>
                          </m:d>
                        </m:e>
                      </m:rad>
                    </m:oMath>
                  </m:oMathPara>
                </a14:m>
                <a:endParaRPr lang="ar-AE" b="0" dirty="0"/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8C34B50-2950-516C-49C9-C0D4E443D92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93" t="-202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AFB50198-F940-11E8-C0C1-4EFB6E0EB2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3723" y="5783975"/>
            <a:ext cx="6401693" cy="857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418147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1D2D0C-340C-686C-4849-BE825CC7D6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8274A7-E2EC-9F62-C841-BE18DCC7F8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E12EDB7-C9DC-B1B7-C0B3-F32E729866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79746"/>
            <a:ext cx="9144000" cy="4098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804107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ECA0FD-CDC0-D7A9-335A-A9D875167F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E99352-67AE-62AA-3673-05D4C39568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45D334F-52D1-CD12-1502-694323F891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59089"/>
            <a:ext cx="9144000" cy="41398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774094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96C409-0D88-97FA-6E26-E8039F01D7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9E6018-ECCD-363C-FBA5-760C5EEB5A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BCF82F2-D3EC-F163-787B-7BC81E8BFD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78248"/>
            <a:ext cx="9144000" cy="4101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88893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EAB0CE-3240-4D8F-D021-9437F1066C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925F31-981F-2E89-0ACE-A7ADD2421B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9CF2C68-7EC9-6BA2-F821-ED984DEC6F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98704"/>
            <a:ext cx="9144000" cy="4060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416498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8861F4-C37D-5A47-027D-772C2B81D4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Best Model</a:t>
            </a:r>
            <a:endParaRPr lang="en-GB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DA19F89-7973-9F08-4E0D-CB6BE404154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26845374"/>
              </p:ext>
            </p:extLst>
          </p:nvPr>
        </p:nvGraphicFramePr>
        <p:xfrm>
          <a:off x="457200" y="3836044"/>
          <a:ext cx="8229600" cy="26003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5281">
                  <a:extLst>
                    <a:ext uri="{9D8B030D-6E8A-4147-A177-3AD203B41FA5}">
                      <a16:colId xmlns:a16="http://schemas.microsoft.com/office/drawing/2014/main" val="4008570941"/>
                    </a:ext>
                  </a:extLst>
                </a:gridCol>
                <a:gridCol w="946769">
                  <a:extLst>
                    <a:ext uri="{9D8B030D-6E8A-4147-A177-3AD203B41FA5}">
                      <a16:colId xmlns:a16="http://schemas.microsoft.com/office/drawing/2014/main" val="323992706"/>
                    </a:ext>
                  </a:extLst>
                </a:gridCol>
                <a:gridCol w="1189529">
                  <a:extLst>
                    <a:ext uri="{9D8B030D-6E8A-4147-A177-3AD203B41FA5}">
                      <a16:colId xmlns:a16="http://schemas.microsoft.com/office/drawing/2014/main" val="3738054000"/>
                    </a:ext>
                  </a:extLst>
                </a:gridCol>
                <a:gridCol w="1537486">
                  <a:extLst>
                    <a:ext uri="{9D8B030D-6E8A-4147-A177-3AD203B41FA5}">
                      <a16:colId xmlns:a16="http://schemas.microsoft.com/office/drawing/2014/main" val="2578734096"/>
                    </a:ext>
                  </a:extLst>
                </a:gridCol>
                <a:gridCol w="1586039">
                  <a:extLst>
                    <a:ext uri="{9D8B030D-6E8A-4147-A177-3AD203B41FA5}">
                      <a16:colId xmlns:a16="http://schemas.microsoft.com/office/drawing/2014/main" val="2069725364"/>
                    </a:ext>
                  </a:extLst>
                </a:gridCol>
                <a:gridCol w="1274496">
                  <a:extLst>
                    <a:ext uri="{9D8B030D-6E8A-4147-A177-3AD203B41FA5}">
                      <a16:colId xmlns:a16="http://schemas.microsoft.com/office/drawing/2014/main" val="386427493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Model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Learning Rate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Best Validation Accuracy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Best Validation Precision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Best Validation Recall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Best Validation F1 Score</a:t>
                      </a:r>
                    </a:p>
                  </a:txBody>
                  <a:tcPr marL="9525" marR="9525" marT="9525" marB="0"/>
                </a:tc>
                <a:extLst>
                  <a:ext uri="{0D108BD9-81ED-4DB2-BD59-A6C34878D82A}">
                    <a16:rowId xmlns:a16="http://schemas.microsoft.com/office/drawing/2014/main" val="32713971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DenseNet1D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0.0005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0.999938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0.999938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0.999938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0.999938</a:t>
                      </a:r>
                    </a:p>
                  </a:txBody>
                  <a:tcPr marL="9525" marR="9525" marT="9525" marB="0"/>
                </a:tc>
                <a:extLst>
                  <a:ext uri="{0D108BD9-81ED-4DB2-BD59-A6C34878D82A}">
                    <a16:rowId xmlns:a16="http://schemas.microsoft.com/office/drawing/2014/main" val="12670546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EfficientNet1DLSTM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0.0005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0.99993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0.99993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0.99993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0.99993</a:t>
                      </a:r>
                    </a:p>
                  </a:txBody>
                  <a:tcPr marL="9525" marR="9525" marT="9525" marB="0"/>
                </a:tc>
                <a:extLst>
                  <a:ext uri="{0D108BD9-81ED-4DB2-BD59-A6C34878D82A}">
                    <a16:rowId xmlns:a16="http://schemas.microsoft.com/office/drawing/2014/main" val="18904055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DenseNet1D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0.001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0.999904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0.999904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0.999904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0.999904</a:t>
                      </a:r>
                    </a:p>
                  </a:txBody>
                  <a:tcPr marL="9525" marR="9525" marT="9525" marB="0"/>
                </a:tc>
                <a:extLst>
                  <a:ext uri="{0D108BD9-81ED-4DB2-BD59-A6C34878D82A}">
                    <a16:rowId xmlns:a16="http://schemas.microsoft.com/office/drawing/2014/main" val="10377891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CSILSTMNet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0.0005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0.999826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0.999826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0.999826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0.999826</a:t>
                      </a:r>
                    </a:p>
                  </a:txBody>
                  <a:tcPr marL="9525" marR="9525" marT="9525" marB="0"/>
                </a:tc>
                <a:extLst>
                  <a:ext uri="{0D108BD9-81ED-4DB2-BD59-A6C34878D82A}">
                    <a16:rowId xmlns:a16="http://schemas.microsoft.com/office/drawing/2014/main" val="24844585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CSILSTMNet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0.001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0.999814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0.999814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0.999814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0.999814</a:t>
                      </a:r>
                    </a:p>
                  </a:txBody>
                  <a:tcPr marL="9525" marR="9525" marT="9525" marB="0"/>
                </a:tc>
                <a:extLst>
                  <a:ext uri="{0D108BD9-81ED-4DB2-BD59-A6C34878D82A}">
                    <a16:rowId xmlns:a16="http://schemas.microsoft.com/office/drawing/2014/main" val="13509239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MobileNetV3_1D_LSTM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0.001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0.988529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0.988529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0.988529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0.988529</a:t>
                      </a:r>
                    </a:p>
                  </a:txBody>
                  <a:tcPr marL="9525" marR="9525" marT="9525" marB="0"/>
                </a:tc>
                <a:extLst>
                  <a:ext uri="{0D108BD9-81ED-4DB2-BD59-A6C34878D82A}">
                    <a16:rowId xmlns:a16="http://schemas.microsoft.com/office/drawing/2014/main" val="3330555094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260068C6-63C5-7F32-3DFF-229D9CCD5075}"/>
              </a:ext>
            </a:extLst>
          </p:cNvPr>
          <p:cNvSpPr txBox="1"/>
          <p:nvPr/>
        </p:nvSpPr>
        <p:spPr>
          <a:xfrm>
            <a:off x="457200" y="1584364"/>
            <a:ext cx="82296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GB" b="0" i="0" dirty="0">
                <a:effectLst/>
                <a:latin typeface="fkGrotesk"/>
              </a:rPr>
              <a:t>Model Performance Comparison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dirty="0">
                <a:effectLst/>
                <a:latin typeface="fkGroteskNeue"/>
              </a:rPr>
              <a:t>Objective: Evaluate four DL models on experiment data using two learning rates (0.001, 0.0005)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dirty="0">
                <a:effectLst/>
                <a:latin typeface="fkGroteskNeue"/>
              </a:rPr>
              <a:t>Top Performing Models: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GB" b="0" i="0" dirty="0">
                <a:effectLst/>
                <a:latin typeface="fkGroteskNeue"/>
              </a:rPr>
              <a:t>DenseNet1D (</a:t>
            </a:r>
            <a:r>
              <a:rPr lang="en-GB" b="0" i="0" dirty="0" err="1">
                <a:effectLst/>
                <a:latin typeface="fkGroteskNeue"/>
              </a:rPr>
              <a:t>lr</a:t>
            </a:r>
            <a:r>
              <a:rPr lang="en-GB" b="0" i="0" dirty="0">
                <a:effectLst/>
                <a:latin typeface="fkGroteskNeue"/>
              </a:rPr>
              <a:t>=0.0005): Best overall metrics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GB" b="0" i="0" dirty="0">
                <a:effectLst/>
                <a:latin typeface="fkGroteskNeue"/>
              </a:rPr>
              <a:t>EfficientNet1DLSTM (</a:t>
            </a:r>
            <a:r>
              <a:rPr lang="en-GB" b="0" i="0" dirty="0" err="1">
                <a:effectLst/>
                <a:latin typeface="fkGroteskNeue"/>
              </a:rPr>
              <a:t>lr</a:t>
            </a:r>
            <a:r>
              <a:rPr lang="en-GB" b="0" i="0" dirty="0">
                <a:effectLst/>
                <a:latin typeface="fkGroteskNeue"/>
              </a:rPr>
              <a:t>=0.0005): High, consistent metrics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GB" b="0" i="0" dirty="0" err="1">
                <a:effectLst/>
                <a:latin typeface="fkGroteskNeue"/>
              </a:rPr>
              <a:t>CSILSTMNet</a:t>
            </a:r>
            <a:r>
              <a:rPr lang="en-GB" b="0" i="0" dirty="0">
                <a:effectLst/>
                <a:latin typeface="fkGroteskNeue"/>
              </a:rPr>
              <a:t> (</a:t>
            </a:r>
            <a:r>
              <a:rPr lang="en-GB" b="0" i="0" dirty="0" err="1">
                <a:effectLst/>
                <a:latin typeface="fkGroteskNeue"/>
              </a:rPr>
              <a:t>lr</a:t>
            </a:r>
            <a:r>
              <a:rPr lang="en-GB" b="0" i="0" dirty="0">
                <a:effectLst/>
                <a:latin typeface="fkGroteskNeue"/>
              </a:rPr>
              <a:t>=0.0005, 0.001): Slightly below leaders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GB" b="0" i="0" dirty="0">
                <a:effectLst/>
                <a:latin typeface="fkGroteskNeue"/>
              </a:rPr>
              <a:t>MobileNetV3_1D_LSTM (</a:t>
            </a:r>
            <a:r>
              <a:rPr lang="en-GB" b="0" i="0" dirty="0" err="1">
                <a:effectLst/>
                <a:latin typeface="fkGroteskNeue"/>
              </a:rPr>
              <a:t>lr</a:t>
            </a:r>
            <a:r>
              <a:rPr lang="en-GB" b="0" i="0" dirty="0">
                <a:effectLst/>
                <a:latin typeface="fkGroteskNeue"/>
              </a:rPr>
              <a:t>=0.001): Lower but strong metrics</a:t>
            </a:r>
          </a:p>
        </p:txBody>
      </p:sp>
    </p:spTree>
    <p:extLst>
      <p:ext uri="{BB962C8B-B14F-4D97-AF65-F5344CB8AC3E}">
        <p14:creationId xmlns:p14="http://schemas.microsoft.com/office/powerpoint/2010/main" val="387042548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9BA101-121E-CFC0-2A9B-510A03738A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Insights &amp; Conclusions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257BF5-286B-5529-FAF9-59A6B512B9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endParaRPr lang="en-GB" dirty="0"/>
          </a:p>
          <a:p>
            <a:r>
              <a:rPr lang="en-GB" b="1" dirty="0"/>
              <a:t>Learning Rate Tuning: </a:t>
            </a:r>
            <a:r>
              <a:rPr lang="en-GB" dirty="0"/>
              <a:t>Lower learning rate (0.0005) consistently outperforms 0.001 for all models</a:t>
            </a:r>
          </a:p>
          <a:p>
            <a:r>
              <a:rPr lang="en-GB" b="1" dirty="0"/>
              <a:t>Metric Trends: </a:t>
            </a:r>
            <a:r>
              <a:rPr lang="en-GB" dirty="0"/>
              <a:t>Metrics (accuracy, precision, recall, F1) closely match for each model configuration, indicating balanced performance</a:t>
            </a:r>
          </a:p>
          <a:p>
            <a:r>
              <a:rPr lang="en-GB" b="1" dirty="0"/>
              <a:t>Best Model: </a:t>
            </a:r>
            <a:r>
              <a:rPr lang="en-GB" dirty="0"/>
              <a:t>DenseNet1D with </a:t>
            </a:r>
            <a:r>
              <a:rPr lang="en-GB" dirty="0" err="1"/>
              <a:t>lr</a:t>
            </a:r>
            <a:r>
              <a:rPr lang="en-GB" dirty="0"/>
              <a:t>=0.0005 is the optimal choice for this experimental dataset</a:t>
            </a:r>
          </a:p>
          <a:p>
            <a:r>
              <a:rPr lang="en-GB" b="1" dirty="0"/>
              <a:t>Generalization: </a:t>
            </a:r>
            <a:r>
              <a:rPr lang="en-GB" dirty="0"/>
              <a:t>High and consistent validation scores suggest good model generalization and minimal overfitting issues across the experiments​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693459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61A356-53E7-1190-CACB-FED1C06F88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DenseNet1D with </a:t>
            </a:r>
            <a:r>
              <a:rPr lang="en-GB" dirty="0" err="1"/>
              <a:t>lr</a:t>
            </a:r>
            <a:r>
              <a:rPr lang="en-GB" dirty="0"/>
              <a:t>=0.0005 Plot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2243D5E-330C-706E-2A56-25C8387287A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2148682"/>
            <a:ext cx="8229600" cy="3428999"/>
          </a:xfrm>
        </p:spPr>
      </p:pic>
    </p:spTree>
    <p:extLst>
      <p:ext uri="{BB962C8B-B14F-4D97-AF65-F5344CB8AC3E}">
        <p14:creationId xmlns:p14="http://schemas.microsoft.com/office/powerpoint/2010/main" val="36529304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B1B31F-81C2-38F4-0739-35F1949D14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DenseNet1D with </a:t>
            </a:r>
            <a:r>
              <a:rPr lang="en-GB" dirty="0" err="1"/>
              <a:t>lr</a:t>
            </a:r>
            <a:r>
              <a:rPr lang="en-GB" dirty="0"/>
              <a:t>=0.0005 Plot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7D9DA4-4F0F-D73A-DEA6-056DED0F5F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1197387-F786-F99F-668A-6B109C3047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5207" y="1600200"/>
            <a:ext cx="4553585" cy="4396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468179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9DCEAEA-53F1-7338-B30D-71F2FAD6A6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Thank you</a:t>
            </a:r>
            <a:endParaRPr lang="en-GB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C33CC6D-424E-40F2-C2A8-562EFF7C12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302956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18296</TotalTime>
  <Words>1262</Words>
  <Application>Microsoft Office PowerPoint</Application>
  <PresentationFormat>On-screen Show (4:3)</PresentationFormat>
  <Paragraphs>171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4" baseType="lpstr">
      <vt:lpstr>Arial</vt:lpstr>
      <vt:lpstr>Calibri</vt:lpstr>
      <vt:lpstr>Cambria Math</vt:lpstr>
      <vt:lpstr>Corbel</vt:lpstr>
      <vt:lpstr>fkGrotesk</vt:lpstr>
      <vt:lpstr>fkGroteskNeue</vt:lpstr>
      <vt:lpstr>Office Theme</vt:lpstr>
      <vt:lpstr>MTECH AAI COHORT-1 Dissertation Project – Phase II</vt:lpstr>
      <vt:lpstr>Human ID &amp; Activity Prediction using Wi-Fi Signals</vt:lpstr>
      <vt:lpstr>Project Objectives</vt:lpstr>
      <vt:lpstr>PowerPoint Presentation</vt:lpstr>
      <vt:lpstr>Planning overview</vt:lpstr>
      <vt:lpstr>Dataset Overview</vt:lpstr>
      <vt:lpstr>Key Features of Dataset</vt:lpstr>
      <vt:lpstr>Feasibility of Human ID Prediction</vt:lpstr>
      <vt:lpstr>Use Case: Security &amp; Monitoring</vt:lpstr>
      <vt:lpstr>Target Variables</vt:lpstr>
      <vt:lpstr>Model Development Approaches</vt:lpstr>
      <vt:lpstr>Conclusion &amp; Next Steps</vt:lpstr>
      <vt:lpstr>MTECH AAI COHORT-1 Dissertation Project – Phase II</vt:lpstr>
      <vt:lpstr>PowerPoint Presentation</vt:lpstr>
      <vt:lpstr>PowerPoint Presentation</vt:lpstr>
      <vt:lpstr>Project Objective</vt:lpstr>
      <vt:lpstr>MLflow Integration</vt:lpstr>
      <vt:lpstr>CSI Data</vt:lpstr>
      <vt:lpstr>PowerPoint Presentation</vt:lpstr>
      <vt:lpstr>PowerPoint Presentation</vt:lpstr>
      <vt:lpstr>PowerPoint Presentation</vt:lpstr>
      <vt:lpstr>PowerPoint Presentation</vt:lpstr>
      <vt:lpstr>Best Model</vt:lpstr>
      <vt:lpstr>Insights &amp; Conclusions</vt:lpstr>
      <vt:lpstr>DenseNet1D with lr=0.0005 Plot</vt:lpstr>
      <vt:lpstr>DenseNet1D with lr=0.0005 Plot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Sanjeev Pandey</cp:lastModifiedBy>
  <cp:revision>10</cp:revision>
  <dcterms:created xsi:type="dcterms:W3CDTF">2013-01-27T09:14:16Z</dcterms:created>
  <dcterms:modified xsi:type="dcterms:W3CDTF">2025-10-14T17:08:51Z</dcterms:modified>
  <cp:category/>
</cp:coreProperties>
</file>