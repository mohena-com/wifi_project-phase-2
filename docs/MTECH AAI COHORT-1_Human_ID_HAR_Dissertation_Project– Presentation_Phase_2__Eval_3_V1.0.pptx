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3" r:id="rId2"/>
    <p:sldId id="256" r:id="rId3"/>
    <p:sldId id="257" r:id="rId4"/>
    <p:sldId id="284" r:id="rId5"/>
    <p:sldId id="285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87" r:id="rId14"/>
    <p:sldId id="288" r:id="rId15"/>
    <p:sldId id="289" r:id="rId16"/>
    <p:sldId id="296" r:id="rId17"/>
    <p:sldId id="290" r:id="rId18"/>
    <p:sldId id="291" r:id="rId19"/>
    <p:sldId id="292" r:id="rId20"/>
    <p:sldId id="293" r:id="rId21"/>
    <p:sldId id="294" r:id="rId22"/>
    <p:sldId id="295" r:id="rId23"/>
    <p:sldId id="297" r:id="rId24"/>
    <p:sldId id="298" r:id="rId25"/>
    <p:sldId id="299" r:id="rId26"/>
    <p:sldId id="300" r:id="rId27"/>
    <p:sldId id="28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3"/>
  </p:normalViewPr>
  <p:slideViewPr>
    <p:cSldViewPr snapToGrid="0" snapToObjects="1">
      <p:cViewPr varScale="1">
        <p:scale>
          <a:sx n="118" d="100"/>
          <a:sy n="118" d="100"/>
        </p:scale>
        <p:origin x="140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1D2B1606-78BE-83ED-FCE9-89FB97E5E9C7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FDCC5EB1-7126-2DDF-6202-C7CCA9514552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5191046"/>
            <a:ext cx="7360823" cy="1241932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 fontScale="77500" lnSpcReduction="20000"/>
          </a:bodyPr>
          <a:lstStyle/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A3DD3686-914F-0F5B-71C8-AE7968240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420358C7-AC25-5975-3F92-C79BA405BC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 ID &amp; Activity Prediction using Wi-Fi Signals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Leveraging Wi-Fi Channel State Information (CSI) and RSSI</a:t>
            </a:r>
            <a:endParaRPr lang="en-IN" dirty="0"/>
          </a:p>
          <a:p>
            <a:r>
              <a:rPr lang="en-GB" dirty="0"/>
              <a:t>Sanjeev Kumar Pandey</a:t>
            </a:r>
            <a:r>
              <a:rPr dirty="0"/>
              <a:t> | </a:t>
            </a:r>
            <a:r>
              <a:rPr lang="en-IN" dirty="0"/>
              <a:t>10-Sep-2025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Dataset Aim:</a:t>
            </a:r>
            <a:r>
              <a:rPr dirty="0"/>
              <a:t> Wi-Fi-based Human Activity Recognition (HAR) in indoor environments (LOS &amp; NLOS).</a:t>
            </a:r>
          </a:p>
          <a:p>
            <a:r>
              <a:rPr b="1" dirty="0"/>
              <a:t>Objective 1:</a:t>
            </a:r>
            <a:r>
              <a:rPr dirty="0"/>
              <a:t> Detect the activity action type from Wi-Fi signals.</a:t>
            </a:r>
          </a:p>
          <a:p>
            <a:r>
              <a:rPr b="1" dirty="0"/>
              <a:t>Objective 2:</a:t>
            </a:r>
            <a:r>
              <a:rPr dirty="0"/>
              <a:t> Detect the ID of the person performing the activity.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F4A46-A213-6598-1CBA-9BC01FD8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5DE616-4AC0-1627-AD05-DD0BC498B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451" y="274638"/>
            <a:ext cx="8537098" cy="6004782"/>
          </a:xfrm>
        </p:spPr>
      </p:pic>
    </p:spTree>
    <p:extLst>
      <p:ext uri="{BB962C8B-B14F-4D97-AF65-F5344CB8AC3E}">
        <p14:creationId xmlns:p14="http://schemas.microsoft.com/office/powerpoint/2010/main" val="79979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ECC0-AC8D-207E-58AB-0F2D3B7FF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Planning overview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6CC3-41A5-CD5B-779A-BA3588AEB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Literature Review &amp; Planning: </a:t>
            </a:r>
            <a:r>
              <a:rPr lang="en-GB" dirty="0"/>
              <a:t>Start with reading key papers, setting objectives, and technical planning.</a:t>
            </a:r>
          </a:p>
          <a:p>
            <a:r>
              <a:rPr lang="en-GB" b="1" dirty="0"/>
              <a:t>Data Understanding &amp; Preprocessing:</a:t>
            </a:r>
            <a:r>
              <a:rPr lang="en-GB" dirty="0"/>
              <a:t> Explore dataset, feature extraction, and handle CSI/RSSI preprocessing.</a:t>
            </a:r>
          </a:p>
          <a:p>
            <a:r>
              <a:rPr lang="en-GB" b="1" dirty="0"/>
              <a:t>Initial Coding &amp; Baseline Model (Eval 1):</a:t>
            </a:r>
            <a:r>
              <a:rPr lang="en-GB" dirty="0"/>
              <a:t> Set up coding, implement baseline models, run initial training and evaluation.</a:t>
            </a:r>
          </a:p>
          <a:p>
            <a:r>
              <a:rPr lang="en-GB" b="1" dirty="0"/>
              <a:t>Advanced Model Training &amp; Experimentation (Eval 2):</a:t>
            </a:r>
            <a:r>
              <a:rPr lang="en-GB" dirty="0"/>
              <a:t> Design and train advanced models (HAR, Human ID, multi-output), experiment, and tune.</a:t>
            </a:r>
          </a:p>
          <a:p>
            <a:r>
              <a:rPr lang="en-GB" b="1" dirty="0"/>
              <a:t>Analysis &amp; Integration:</a:t>
            </a:r>
            <a:r>
              <a:rPr lang="en-GB" dirty="0"/>
              <a:t> Compare results, integrate best-performing models, and conduct error analysis.</a:t>
            </a:r>
          </a:p>
          <a:p>
            <a:r>
              <a:rPr lang="en-GB" b="1" dirty="0"/>
              <a:t>Research Paper Drafting &amp; Documentation:</a:t>
            </a:r>
            <a:r>
              <a:rPr lang="en-GB" dirty="0"/>
              <a:t> Start documentation and research paper draft, plus slides for presentation.</a:t>
            </a:r>
          </a:p>
          <a:p>
            <a:r>
              <a:rPr lang="en-GB" b="1" dirty="0"/>
              <a:t>Final Report &amp; Presentation (Eval 3):</a:t>
            </a:r>
            <a:r>
              <a:rPr lang="en-GB" dirty="0"/>
              <a:t> Polish final report, prepare for oral </a:t>
            </a:r>
            <a:r>
              <a:rPr lang="en-GB" dirty="0" err="1"/>
              <a:t>defense</a:t>
            </a:r>
            <a:r>
              <a:rPr lang="en-GB" dirty="0"/>
              <a:t>, and respond to committee feedback.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7732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b="1" dirty="0"/>
              <a:t>Source Paper:</a:t>
            </a:r>
            <a:r>
              <a:rPr dirty="0"/>
              <a:t> 'A dataset for Wi-Fi-based human activity recognition in LOS and NLOS indoor environments'.</a:t>
            </a:r>
            <a:r>
              <a:rPr lang="en-IN" dirty="0"/>
              <a:t> https://pmc.ncbi.nlm.nih.gov/articles/PMC7704290/pdf/main.pdf</a:t>
            </a:r>
            <a:endParaRPr dirty="0"/>
          </a:p>
          <a:p>
            <a:r>
              <a:rPr b="1" dirty="0"/>
              <a:t>Authors:</a:t>
            </a:r>
            <a:r>
              <a:rPr dirty="0"/>
              <a:t> Baha’ A </a:t>
            </a:r>
            <a:r>
              <a:rPr dirty="0" err="1"/>
              <a:t>Alsaify</a:t>
            </a:r>
            <a:r>
              <a:rPr dirty="0"/>
              <a:t> et al., Jordan University of Science and Technology, German Jordanian University.</a:t>
            </a:r>
          </a:p>
          <a:p>
            <a:r>
              <a:rPr b="1" dirty="0"/>
              <a:t>Publication Date:</a:t>
            </a:r>
            <a:r>
              <a:rPr dirty="0"/>
              <a:t> November 18, 2020.</a:t>
            </a:r>
          </a:p>
          <a:p>
            <a:r>
              <a:rPr b="1" dirty="0"/>
              <a:t>Purpose:</a:t>
            </a:r>
            <a:r>
              <a:rPr dirty="0"/>
              <a:t> Benchmark dataset for HAR research across LOS &amp; NLOS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Key Features of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dirty="0"/>
          </a:p>
          <a:p>
            <a:r>
              <a:rPr b="1" dirty="0"/>
              <a:t>Participants:</a:t>
            </a:r>
            <a:r>
              <a:rPr dirty="0"/>
              <a:t> 30 subjects (28 male, 2 female), age ~22.7 ± 2.95 years.</a:t>
            </a:r>
          </a:p>
          <a:p>
            <a:r>
              <a:rPr b="1" dirty="0"/>
              <a:t>Activities:</a:t>
            </a:r>
            <a:r>
              <a:rPr dirty="0"/>
              <a:t> 12 unique actions across 5 experiment classes.</a:t>
            </a:r>
          </a:p>
          <a:p>
            <a:r>
              <a:rPr b="1" dirty="0"/>
              <a:t>Environments:</a:t>
            </a:r>
            <a:r>
              <a:rPr dirty="0"/>
              <a:t> 2 LOS (lab, hallway) + 1 NLOS (wooden wall barrier).</a:t>
            </a:r>
          </a:p>
          <a:p>
            <a:r>
              <a:rPr b="1" dirty="0"/>
              <a:t>Data Types:</a:t>
            </a:r>
            <a:r>
              <a:rPr dirty="0"/>
              <a:t> Channel State Information (CSI) and RSSI values.</a:t>
            </a:r>
          </a:p>
          <a:p>
            <a:r>
              <a:rPr b="1" dirty="0"/>
              <a:t>File Naming:</a:t>
            </a:r>
            <a:r>
              <a:rPr dirty="0"/>
              <a:t> Ex_Sy_Cz_Ai_Tk.csv (e.g., E1_S04_C3_A7_T17.csv).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Feasibility of Human ID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r>
              <a:rPr dirty="0"/>
              <a:t>Subject ID explicitly labeled in filenames (S1–S30).</a:t>
            </a:r>
          </a:p>
          <a:p>
            <a:r>
              <a:rPr dirty="0"/>
              <a:t>Biometric info (age, weight, height) subtly affects signals.</a:t>
            </a:r>
          </a:p>
          <a:p>
            <a:r>
              <a:rPr dirty="0"/>
              <a:t>CSI &amp; RSSI are sensitive to individual movement signatures.</a:t>
            </a:r>
          </a:p>
          <a:p>
            <a:r>
              <a:rPr dirty="0"/>
              <a:t>Rich dataset (3000 trials) suitable for Human ID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Use Case: Security &amp;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Traditional biometrics (faces, fingerprints) can be spoofed &amp; require active participation.</a:t>
            </a:r>
          </a:p>
          <a:p>
            <a:r>
              <a:rPr dirty="0"/>
              <a:t>Wi-Fi-based ID is passive, non-intrusive, and works in NLOS environments.</a:t>
            </a:r>
          </a:p>
          <a:p>
            <a:r>
              <a:rPr b="1" dirty="0"/>
              <a:t>Applications:</a:t>
            </a:r>
            <a:r>
              <a:rPr dirty="0"/>
              <a:t> High-security zones (ISRO, NASA, Parliament House), covert surveillance, medical alerts.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Target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HAR Activity Recognition: </a:t>
            </a:r>
            <a:r>
              <a:rPr dirty="0"/>
              <a:t>Classify 12 unique activities (A1–A12).</a:t>
            </a:r>
          </a:p>
          <a:p>
            <a:r>
              <a:rPr b="1" dirty="0"/>
              <a:t>Human ID:</a:t>
            </a:r>
            <a:r>
              <a:rPr dirty="0"/>
              <a:t> Identify 1 of 30 subjects (S1–S30).</a:t>
            </a:r>
          </a:p>
          <a:p>
            <a:r>
              <a:rPr b="1" dirty="0"/>
              <a:t>Input Data:</a:t>
            </a:r>
            <a:r>
              <a:rPr dirty="0"/>
              <a:t> CSI &amp; RSSI values sensitive to presence &amp; movement.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Model Development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Approach 1:</a:t>
            </a:r>
            <a:r>
              <a:rPr dirty="0"/>
              <a:t> Two Separate Models</a:t>
            </a:r>
            <a:endParaRPr lang="en-IN" dirty="0"/>
          </a:p>
          <a:p>
            <a:pPr lvl="1"/>
            <a:r>
              <a:rPr dirty="0"/>
              <a:t>HAR Activity Classifier (12 classes).</a:t>
            </a:r>
            <a:endParaRPr lang="en-IN" dirty="0"/>
          </a:p>
          <a:p>
            <a:pPr lvl="1"/>
            <a:r>
              <a:rPr dirty="0"/>
              <a:t>Human ID Classifier (30 subjects).</a:t>
            </a:r>
            <a:endParaRPr lang="en-IN" dirty="0"/>
          </a:p>
          <a:p>
            <a:r>
              <a:rPr b="1" dirty="0"/>
              <a:t>Approach 2:</a:t>
            </a:r>
            <a:r>
              <a:rPr dirty="0"/>
              <a:t> One Multi-Output Model</a:t>
            </a:r>
            <a:endParaRPr lang="en-IN" dirty="0"/>
          </a:p>
          <a:p>
            <a:pPr lvl="1"/>
            <a:r>
              <a:rPr dirty="0"/>
              <a:t>Single model with shared features.</a:t>
            </a:r>
            <a:endParaRPr lang="en-IN" dirty="0"/>
          </a:p>
          <a:p>
            <a:pPr lvl="1"/>
            <a:r>
              <a:rPr dirty="0"/>
              <a:t>Two output heads: Activity &amp; 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Dataset provides rich labeled Wi-Fi signal data (CSI, RSSI).</a:t>
            </a:r>
          </a:p>
          <a:p>
            <a:r>
              <a:t>Suitable for both HAR and Human ID tasks.</a:t>
            </a:r>
          </a:p>
          <a:p>
            <a:r>
              <a:t>Choice: Separate models (simplicity) vs. Multi-output model (efficiency).</a:t>
            </a:r>
          </a:p>
          <a:p>
            <a:r>
              <a:t>Next Step: Implement and evaluate both approaches.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B1AFA-B69D-8209-CF0E-11DE562DB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AB3869B0-4FB0-7860-467C-7FBBC7E9F867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4720A5C6-F00C-E8D3-7DC8-DDD750DE7AE9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4572000"/>
            <a:ext cx="7360823" cy="1432290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/>
          </a:bodyPr>
          <a:lstStyle/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sz="1800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  <a:p>
            <a:pPr algn="ctr" eaLnBrk="1" hangingPunct="1"/>
            <a:r>
              <a:rPr lang="en-US" altLang="en-US" sz="1800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Date: 11-Oct-2025</a:t>
            </a:r>
          </a:p>
          <a:p>
            <a:pPr algn="ctr" eaLnBrk="1" hangingPunct="1"/>
            <a:endParaRPr lang="en-US" altLang="en-US" dirty="0">
              <a:solidFill>
                <a:srgbClr val="898989"/>
              </a:solidFill>
              <a:latin typeface="Calibri" panose="020F0502020204030204" pitchFamily="34" charset="0"/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5686DB45-F136-D6C2-2FED-8998CE9B5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E1854431-C2E5-21B9-2720-FB6CB58D9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Evaluation-II</a:t>
            </a:r>
          </a:p>
        </p:txBody>
      </p:sp>
    </p:spTree>
    <p:extLst>
      <p:ext uri="{BB962C8B-B14F-4D97-AF65-F5344CB8AC3E}">
        <p14:creationId xmlns:p14="http://schemas.microsoft.com/office/powerpoint/2010/main" val="3121672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C596-0483-D103-350E-27BDE12A1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AACA-8902-D931-43F3-B5B42DFA78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F9533A-3F13-58E0-EF2C-FFFB0275E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274" y="274638"/>
            <a:ext cx="6875451" cy="597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503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48F-75E2-9BF8-BBB7-172E8E1C4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C130E-0F09-976D-6A89-E98D158EB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6504C2-78F6-E1FA-7261-49322CAF5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84" y="819998"/>
            <a:ext cx="7573432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87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9EA5-57DE-DB04-C788-6CD6F9FA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Objective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E3C58-E039-7F92-1112-A2DF84446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74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IN" sz="1800" dirty="0"/>
              <a:t>The project performs a comparative study across four distinct DL architectures, all designed to process both the time-series CSI sequence and the auxiliary metadata sequence simultaneously.</a:t>
            </a:r>
            <a:endParaRPr lang="en-GB" sz="1800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6D99F99-8449-CB84-590B-0E671E016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835649"/>
              </p:ext>
            </p:extLst>
          </p:nvPr>
        </p:nvGraphicFramePr>
        <p:xfrm>
          <a:off x="497660" y="2641092"/>
          <a:ext cx="8003024" cy="3566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975">
                  <a:extLst>
                    <a:ext uri="{9D8B030D-6E8A-4147-A177-3AD203B41FA5}">
                      <a16:colId xmlns:a16="http://schemas.microsoft.com/office/drawing/2014/main" val="131300539"/>
                    </a:ext>
                  </a:extLst>
                </a:gridCol>
                <a:gridCol w="1294726">
                  <a:extLst>
                    <a:ext uri="{9D8B030D-6E8A-4147-A177-3AD203B41FA5}">
                      <a16:colId xmlns:a16="http://schemas.microsoft.com/office/drawing/2014/main" val="1153110472"/>
                    </a:ext>
                  </a:extLst>
                </a:gridCol>
                <a:gridCol w="1100517">
                  <a:extLst>
                    <a:ext uri="{9D8B030D-6E8A-4147-A177-3AD203B41FA5}">
                      <a16:colId xmlns:a16="http://schemas.microsoft.com/office/drawing/2014/main" val="4057886831"/>
                    </a:ext>
                  </a:extLst>
                </a:gridCol>
                <a:gridCol w="3499806">
                  <a:extLst>
                    <a:ext uri="{9D8B030D-6E8A-4147-A177-3AD203B41FA5}">
                      <a16:colId xmlns:a16="http://schemas.microsoft.com/office/drawing/2014/main" val="10070758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Model Name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CSI Processing Core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Metadata Processing Core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5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Key Features</a:t>
                      </a:r>
                      <a:endParaRPr lang="en-GB" sz="105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3992217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kern="1200" dirty="0" err="1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CSILSTMNet</a:t>
                      </a:r>
                      <a:endParaRPr lang="en-GB" sz="16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Standard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Standard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Uses the last hidden state from two parallel LSTMs (one for CSI, one for Meta).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361852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DenseNet1D</a:t>
                      </a:r>
                      <a:endParaRPr lang="en-GB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Dense Block 1D CNN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Uses 1D CNN blocks (DenseBlock1D) followed by global pooling for CSI, combined with a Bi-LSTM for metadata.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04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EfficientNet1DLSTM</a:t>
                      </a:r>
                      <a:endParaRPr lang="en-GB" sz="16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MBConv1D Blocks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Leverages </a:t>
                      </a:r>
                      <a:r>
                        <a:rPr lang="en-IN" sz="14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Mobile Inverted Bottleneck (</a:t>
                      </a:r>
                      <a:r>
                        <a:rPr lang="en-IN" sz="1400" b="1" kern="1200" dirty="0" err="1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MBConv</a:t>
                      </a:r>
                      <a:r>
                        <a:rPr lang="en-IN" sz="1400" b="1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blocks (stem, mbconv1-3) designed for efficiency, combined with a Bi-LSTM.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600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MobileNetV3_1D_LSTM</a:t>
                      </a:r>
                      <a:endParaRPr lang="en-GB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MobileNetV3 Block 1D</a:t>
                      </a:r>
                      <a:endParaRPr lang="en-GB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Bidirectional LSTM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Incorporates specialized blocks (including </a:t>
                      </a:r>
                      <a:r>
                        <a:rPr lang="en-IN" sz="1400" kern="0" dirty="0" err="1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depthwise</a:t>
                      </a:r>
                      <a:r>
                        <a:rPr lang="en-IN" sz="1400" kern="0" dirty="0">
                          <a:effectLst/>
                          <a:latin typeface="+mj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separable convolutions and Squeeze-and-Excitation (SE) layers) optimized for mobile/efficient computing, combined with a Bi-LSTM.</a:t>
                      </a:r>
                      <a:endParaRPr lang="en-GB" sz="14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1982214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6876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EE305-B15F-3310-1FC2-36CE18B35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MLflow</a:t>
            </a:r>
            <a:r>
              <a:rPr lang="en-GB" b="1" dirty="0"/>
              <a:t> Integration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4B239-B5A5-03B6-A861-E76C71CF7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Feature Focus:</a:t>
            </a:r>
            <a:r>
              <a:rPr lang="en-GB" dirty="0"/>
              <a:t> Seamless integration with </a:t>
            </a:r>
            <a:r>
              <a:rPr lang="en-GB" b="1" dirty="0" err="1"/>
              <a:t>MLflow</a:t>
            </a:r>
            <a:r>
              <a:rPr lang="en-GB" dirty="0"/>
              <a:t> for experiment tracking and performance comparison.</a:t>
            </a:r>
          </a:p>
          <a:p>
            <a:r>
              <a:rPr lang="en-GB" b="1" dirty="0"/>
              <a:t>What It Does:</a:t>
            </a:r>
            <a:endParaRPr lang="en-GB" dirty="0"/>
          </a:p>
          <a:p>
            <a:pPr lvl="1"/>
            <a:r>
              <a:rPr lang="en-GB" dirty="0"/>
              <a:t>Automatically logs </a:t>
            </a:r>
            <a:r>
              <a:rPr lang="en-GB" b="1" dirty="0"/>
              <a:t>training runs</a:t>
            </a:r>
            <a:r>
              <a:rPr lang="en-GB" dirty="0"/>
              <a:t> for all four models — DenseNet1D, EfficientNet1DLSTM, MobileNetV3_1D_LSTM, and LSTM.</a:t>
            </a:r>
          </a:p>
          <a:p>
            <a:pPr lvl="1"/>
            <a:r>
              <a:rPr lang="en-GB" dirty="0"/>
              <a:t>Captures </a:t>
            </a:r>
            <a:r>
              <a:rPr lang="en-GB" b="1" dirty="0"/>
              <a:t>hyperparameters, metrics (Accuracy, F1, Precision, Recall, AUC),</a:t>
            </a:r>
            <a:r>
              <a:rPr lang="en-GB" dirty="0"/>
              <a:t> and </a:t>
            </a:r>
            <a:r>
              <a:rPr lang="en-GB" b="1" dirty="0"/>
              <a:t>loss curves</a:t>
            </a:r>
            <a:r>
              <a:rPr lang="en-GB" dirty="0"/>
              <a:t> per epoch.</a:t>
            </a:r>
          </a:p>
          <a:p>
            <a:r>
              <a:rPr lang="en-GB" b="1" dirty="0"/>
              <a:t>Why It Matters:</a:t>
            </a:r>
            <a:endParaRPr lang="en-GB" dirty="0"/>
          </a:p>
          <a:p>
            <a:pPr lvl="1"/>
            <a:r>
              <a:rPr lang="en-GB" dirty="0"/>
              <a:t>Enables </a:t>
            </a:r>
            <a:r>
              <a:rPr lang="en-GB" b="1" dirty="0"/>
              <a:t>side-by-side model comparison</a:t>
            </a:r>
            <a:r>
              <a:rPr lang="en-GB" dirty="0"/>
              <a:t> through </a:t>
            </a:r>
            <a:r>
              <a:rPr lang="en-GB" dirty="0" err="1"/>
              <a:t>MLflow</a:t>
            </a:r>
            <a:r>
              <a:rPr lang="en-GB" dirty="0"/>
              <a:t> dashboards and visual graphs.</a:t>
            </a:r>
          </a:p>
          <a:p>
            <a:pPr lvl="1"/>
            <a:r>
              <a:rPr lang="en-GB" dirty="0"/>
              <a:t>Ensures </a:t>
            </a:r>
            <a:r>
              <a:rPr lang="en-GB" b="1" dirty="0"/>
              <a:t>reproducibility</a:t>
            </a:r>
            <a:r>
              <a:rPr lang="en-GB" dirty="0"/>
              <a:t> and transparency of experiments.</a:t>
            </a:r>
          </a:p>
          <a:p>
            <a:pPr lvl="1"/>
            <a:r>
              <a:rPr lang="en-GB" dirty="0"/>
              <a:t>Simplifies identification of the </a:t>
            </a:r>
            <a:r>
              <a:rPr lang="en-GB" b="1" dirty="0"/>
              <a:t>best-performing model</a:t>
            </a:r>
            <a:r>
              <a:rPr lang="en-GB" dirty="0"/>
              <a:t> over 100 epochs.</a:t>
            </a:r>
          </a:p>
          <a:p>
            <a:r>
              <a:rPr lang="en-GB" b="1" dirty="0"/>
              <a:t>Outcome:</a:t>
            </a:r>
            <a:r>
              <a:rPr lang="en-GB" dirty="0"/>
              <a:t> Data-driven insights for model selection and performance optimization.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51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C1421-C036-AE19-AB16-2E00066C8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CSI Data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C34B50-2950-516C-49C9-C0D4E443D9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1️⃣ </a:t>
                </a:r>
                <a:r>
                  <a:rPr lang="en-GB" b="1" dirty="0"/>
                  <a:t>CSI Data Overview </a:t>
                </a:r>
              </a:p>
              <a:p>
                <a:pPr marL="0" indent="0">
                  <a:buNone/>
                </a:pPr>
                <a:r>
                  <a:rPr lang="en-GB" dirty="0"/>
                  <a:t>Convert raw </a:t>
                </a:r>
                <a:r>
                  <a:rPr lang="en-GB" dirty="0" err="1"/>
                  <a:t>WiFi</a:t>
                </a:r>
                <a:r>
                  <a:rPr lang="en-GB" dirty="0"/>
                  <a:t> Channel State Information (CSI) signals into numerical features suitable for model training.</a:t>
                </a:r>
              </a:p>
              <a:p>
                <a:r>
                  <a:rPr lang="en-GB" b="1" dirty="0"/>
                  <a:t>Nature of CSI:</a:t>
                </a:r>
                <a:r>
                  <a:rPr lang="en-GB" dirty="0"/>
                  <a:t> Each CSI sample is a </a:t>
                </a:r>
                <a:r>
                  <a:rPr lang="en-GB" b="1" dirty="0"/>
                  <a:t>complex number</a:t>
                </a:r>
                <a:r>
                  <a:rPr lang="en-GB" dirty="0"/>
                  <a:t> representing the amplitude and phase response of each subcarrier in a </a:t>
                </a:r>
                <a:r>
                  <a:rPr lang="en-GB" dirty="0" err="1"/>
                  <a:t>WiFi</a:t>
                </a:r>
                <a:r>
                  <a:rPr lang="en-GB" dirty="0"/>
                  <a:t> link.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GB" i="1"/>
                        <m:t>Re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m:rPr>
                          <m:nor/>
                        </m:rPr>
                        <a:rPr lang="en-GB" i="1"/>
                        <m:t>Im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en-GB" dirty="0"/>
                  <a:t>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GB" dirty="0"/>
                  <a:t>amplitude (signal strength)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GB" dirty="0"/>
                  <a:t>phase shift caused by environment/human presence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: subcarrier index,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: time index</a:t>
                </a:r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b="1" dirty="0"/>
                  <a:t>2️⃣ Feature Computation</a:t>
                </a:r>
              </a:p>
              <a:p>
                <a:r>
                  <a:rPr lang="en-GB" b="1" dirty="0"/>
                  <a:t>Amplitude extraction:</a:t>
                </a:r>
                <a:r>
                  <a:rPr lang="en-GB" dirty="0"/>
                  <a:t> converts complex CSI to real-valued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∣=</m:t>
                      </m:r>
                      <m:rad>
                        <m:radPr>
                          <m:deg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end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GB" i="1"/>
                                <m:t>Re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endChr m:val="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GB" i="1"/>
                                    <m:t>Im</m:t>
                                  </m:r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"/>
                                          <m:endChr m:val="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rad>
                    </m:oMath>
                  </m:oMathPara>
                </a14:m>
                <a:endParaRPr lang="ar-AE" b="0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C34B50-2950-516C-49C9-C0D4E443D9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1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FB50198-F940-11E8-C0C1-4EFB6E0EB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23" y="5783975"/>
            <a:ext cx="6401693" cy="85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181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D2D0C-340C-686C-4849-BE825CC7D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74A7-E2EC-9F62-C841-BE18DCC7F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2EDB7-C9DC-B1B7-C0B3-F32E72986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9746"/>
            <a:ext cx="9144000" cy="4098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10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A0FD-CDC0-D7A9-335A-A9D875167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99352-67AE-62AA-3673-05D4C3956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D334F-52D1-CD12-1502-694323F89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9089"/>
            <a:ext cx="9144000" cy="41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40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C409-0D88-97FA-6E26-E8039F01D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E6018-ECCD-363C-FBA5-760C5EEB5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CF82F2-D3EC-F163-787B-7BC81E8BF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8248"/>
            <a:ext cx="9144000" cy="410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88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AB0CE-3240-4D8F-D021-9437F106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25F31-981F-2E89-0ACE-A7ADD242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CF2C68-7EC9-6BA2-F821-ED984DEC6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8704"/>
            <a:ext cx="9144000" cy="4060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649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61F4-C37D-5A47-027D-772C2B81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Best Model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DA19F89-7973-9F08-4E0D-CB6BE40415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6845374"/>
              </p:ext>
            </p:extLst>
          </p:nvPr>
        </p:nvGraphicFramePr>
        <p:xfrm>
          <a:off x="457200" y="3836044"/>
          <a:ext cx="8229600" cy="260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5281">
                  <a:extLst>
                    <a:ext uri="{9D8B030D-6E8A-4147-A177-3AD203B41FA5}">
                      <a16:colId xmlns:a16="http://schemas.microsoft.com/office/drawing/2014/main" val="4008570941"/>
                    </a:ext>
                  </a:extLst>
                </a:gridCol>
                <a:gridCol w="946769">
                  <a:extLst>
                    <a:ext uri="{9D8B030D-6E8A-4147-A177-3AD203B41FA5}">
                      <a16:colId xmlns:a16="http://schemas.microsoft.com/office/drawing/2014/main" val="323992706"/>
                    </a:ext>
                  </a:extLst>
                </a:gridCol>
                <a:gridCol w="1189529">
                  <a:extLst>
                    <a:ext uri="{9D8B030D-6E8A-4147-A177-3AD203B41FA5}">
                      <a16:colId xmlns:a16="http://schemas.microsoft.com/office/drawing/2014/main" val="3738054000"/>
                    </a:ext>
                  </a:extLst>
                </a:gridCol>
                <a:gridCol w="1537486">
                  <a:extLst>
                    <a:ext uri="{9D8B030D-6E8A-4147-A177-3AD203B41FA5}">
                      <a16:colId xmlns:a16="http://schemas.microsoft.com/office/drawing/2014/main" val="2578734096"/>
                    </a:ext>
                  </a:extLst>
                </a:gridCol>
                <a:gridCol w="1586039">
                  <a:extLst>
                    <a:ext uri="{9D8B030D-6E8A-4147-A177-3AD203B41FA5}">
                      <a16:colId xmlns:a16="http://schemas.microsoft.com/office/drawing/2014/main" val="2069725364"/>
                    </a:ext>
                  </a:extLst>
                </a:gridCol>
                <a:gridCol w="1274496">
                  <a:extLst>
                    <a:ext uri="{9D8B030D-6E8A-4147-A177-3AD203B41FA5}">
                      <a16:colId xmlns:a16="http://schemas.microsoft.com/office/drawing/2014/main" val="3864274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Model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Learning Rate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Accuracy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Precision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Recall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Best Validation F1 Score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271397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DenseNet1D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0.999938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267054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EfficientNet1DLSTM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0.99993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890405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DenseNet1D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0.999904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037789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CSILSTMNet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0.999826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484458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CSILSTMNet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0.999814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3509239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MobileNetV3_1D_LSTM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0.988529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330555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60068C6-63C5-7F32-3DFF-229D9CCD5075}"/>
              </a:ext>
            </a:extLst>
          </p:cNvPr>
          <p:cNvSpPr txBox="1"/>
          <p:nvPr/>
        </p:nvSpPr>
        <p:spPr>
          <a:xfrm>
            <a:off x="457200" y="1584364"/>
            <a:ext cx="82296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0" i="0" dirty="0">
                <a:effectLst/>
                <a:latin typeface="fkGrotesk"/>
              </a:rPr>
              <a:t>Model Performance Comparison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Objective: Evaluate four DL models on experiment data using two learning rates (0.001, 0.0005)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Top Performing Models: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DenseNet1D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=0.0005): Best overall metrics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EfficientNet1DLSTM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=0.0005): High, consistent metrics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 err="1">
                <a:effectLst/>
                <a:latin typeface="fkGroteskNeue"/>
              </a:rPr>
              <a:t>CSILSTMNet</a:t>
            </a:r>
            <a:r>
              <a:rPr lang="en-GB" b="0" i="0" dirty="0">
                <a:effectLst/>
                <a:latin typeface="fkGroteskNeue"/>
              </a:rPr>
              <a:t>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=0.0005, 0.001): Slightly below leaders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fkGroteskNeue"/>
              </a:rPr>
              <a:t>MobileNetV3_1D_LSTM (</a:t>
            </a:r>
            <a:r>
              <a:rPr lang="en-GB" b="0" i="0" dirty="0" err="1">
                <a:effectLst/>
                <a:latin typeface="fkGroteskNeue"/>
              </a:rPr>
              <a:t>lr</a:t>
            </a:r>
            <a:r>
              <a:rPr lang="en-GB" b="0" i="0" dirty="0">
                <a:effectLst/>
                <a:latin typeface="fkGroteskNeue"/>
              </a:rPr>
              <a:t>=0.001): Lower but strong metrics</a:t>
            </a:r>
          </a:p>
        </p:txBody>
      </p:sp>
    </p:spTree>
    <p:extLst>
      <p:ext uri="{BB962C8B-B14F-4D97-AF65-F5344CB8AC3E}">
        <p14:creationId xmlns:p14="http://schemas.microsoft.com/office/powerpoint/2010/main" val="3870425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BA101-121E-CFC0-2A9B-510A03738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Insights &amp;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57BF5-286B-5529-FAF9-59A6B512B9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endParaRPr lang="en-GB" dirty="0"/>
          </a:p>
          <a:p>
            <a:r>
              <a:rPr lang="en-GB" b="1" dirty="0"/>
              <a:t>Learning Rate Tuning: </a:t>
            </a:r>
            <a:r>
              <a:rPr lang="en-GB" dirty="0"/>
              <a:t>Lower learning rate (0.0005) consistently outperforms 0.001 for all models</a:t>
            </a:r>
          </a:p>
          <a:p>
            <a:r>
              <a:rPr lang="en-GB" b="1" dirty="0"/>
              <a:t>Metric Trends: </a:t>
            </a:r>
            <a:r>
              <a:rPr lang="en-GB" dirty="0"/>
              <a:t>Metrics (accuracy, precision, recall, F1) closely match for each model configuration, indicating balanced performance</a:t>
            </a:r>
          </a:p>
          <a:p>
            <a:r>
              <a:rPr lang="en-GB" b="1" dirty="0"/>
              <a:t>Best Model: </a:t>
            </a:r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is the optimal choice for this experimental dataset</a:t>
            </a:r>
          </a:p>
          <a:p>
            <a:r>
              <a:rPr lang="en-GB" b="1" dirty="0"/>
              <a:t>Generalization: </a:t>
            </a:r>
            <a:r>
              <a:rPr lang="en-GB" dirty="0"/>
              <a:t>High and consistent validation scores suggest good model generalization and minimal overfitting issues across the experiments​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934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1A356-53E7-1190-CACB-FED1C06F8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Plot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243D5E-330C-706E-2A56-25C8387287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2148682"/>
            <a:ext cx="8229600" cy="3428999"/>
          </a:xfrm>
        </p:spPr>
      </p:pic>
    </p:spTree>
    <p:extLst>
      <p:ext uri="{BB962C8B-B14F-4D97-AF65-F5344CB8AC3E}">
        <p14:creationId xmlns:p14="http://schemas.microsoft.com/office/powerpoint/2010/main" val="3652930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B31F-81C2-38F4-0739-35F1949D1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DenseNet1D with </a:t>
            </a:r>
            <a:r>
              <a:rPr lang="en-GB" dirty="0" err="1"/>
              <a:t>lr</a:t>
            </a:r>
            <a:r>
              <a:rPr lang="en-GB" dirty="0"/>
              <a:t>=0.0005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D9DA4-4F0F-D73A-DEA6-056DED0F5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197387-F786-F99F-668A-6B109C304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207" y="1600200"/>
            <a:ext cx="4553585" cy="439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681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DCEAEA-53F1-7338-B30D-71F2FAD6A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Thank you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33CC6D-424E-40F2-C2A8-562EFF7C1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295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20102</TotalTime>
  <Words>1262</Words>
  <Application>Microsoft Office PowerPoint</Application>
  <PresentationFormat>On-screen Show (4:3)</PresentationFormat>
  <Paragraphs>171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Cambria Math</vt:lpstr>
      <vt:lpstr>Corbel</vt:lpstr>
      <vt:lpstr>fkGrotesk</vt:lpstr>
      <vt:lpstr>fkGroteskNeue</vt:lpstr>
      <vt:lpstr>Office Theme</vt:lpstr>
      <vt:lpstr>MTECH AAI COHORT-1 Dissertation Project – Phase II</vt:lpstr>
      <vt:lpstr>Human ID &amp; Activity Prediction using Wi-Fi Signals</vt:lpstr>
      <vt:lpstr>Project Objectives</vt:lpstr>
      <vt:lpstr>PowerPoint Presentation</vt:lpstr>
      <vt:lpstr>Planning overview</vt:lpstr>
      <vt:lpstr>Dataset Overview</vt:lpstr>
      <vt:lpstr>Key Features of Dataset</vt:lpstr>
      <vt:lpstr>Feasibility of Human ID Prediction</vt:lpstr>
      <vt:lpstr>Use Case: Security &amp; Monitoring</vt:lpstr>
      <vt:lpstr>Target Variables</vt:lpstr>
      <vt:lpstr>Model Development Approaches</vt:lpstr>
      <vt:lpstr>Conclusion &amp; Next Steps</vt:lpstr>
      <vt:lpstr>MTECH AAI COHORT-1 Dissertation Project – Phase II</vt:lpstr>
      <vt:lpstr>PowerPoint Presentation</vt:lpstr>
      <vt:lpstr>PowerPoint Presentation</vt:lpstr>
      <vt:lpstr>Project Objective</vt:lpstr>
      <vt:lpstr>MLflow Integration</vt:lpstr>
      <vt:lpstr>CSI Data</vt:lpstr>
      <vt:lpstr>PowerPoint Presentation</vt:lpstr>
      <vt:lpstr>PowerPoint Presentation</vt:lpstr>
      <vt:lpstr>PowerPoint Presentation</vt:lpstr>
      <vt:lpstr>PowerPoint Presentation</vt:lpstr>
      <vt:lpstr>Best Model</vt:lpstr>
      <vt:lpstr>Insights &amp; Conclusions</vt:lpstr>
      <vt:lpstr>DenseNet1D with lr=0.0005 Plot</vt:lpstr>
      <vt:lpstr>DenseNet1D with lr=0.0005 Plot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Sanjeev Pandey</cp:lastModifiedBy>
  <cp:revision>12</cp:revision>
  <dcterms:created xsi:type="dcterms:W3CDTF">2013-01-27T09:14:16Z</dcterms:created>
  <dcterms:modified xsi:type="dcterms:W3CDTF">2025-10-21T08:15:42Z</dcterms:modified>
  <cp:category/>
</cp:coreProperties>
</file>