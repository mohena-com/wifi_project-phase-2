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2"/>
    <p:sldId id="256" r:id="rId3"/>
    <p:sldId id="257" r:id="rId4"/>
    <p:sldId id="284" r:id="rId5"/>
    <p:sldId id="285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87" r:id="rId14"/>
    <p:sldId id="288" r:id="rId15"/>
    <p:sldId id="289" r:id="rId16"/>
    <p:sldId id="296" r:id="rId17"/>
    <p:sldId id="290" r:id="rId18"/>
    <p:sldId id="291" r:id="rId19"/>
    <p:sldId id="292" r:id="rId20"/>
    <p:sldId id="293" r:id="rId21"/>
    <p:sldId id="294" r:id="rId22"/>
    <p:sldId id="295" r:id="rId23"/>
    <p:sldId id="297" r:id="rId24"/>
    <p:sldId id="298" r:id="rId25"/>
    <p:sldId id="299" r:id="rId26"/>
    <p:sldId id="300" r:id="rId27"/>
    <p:sldId id="286" r:id="rId28"/>
    <p:sldId id="301" r:id="rId29"/>
    <p:sldId id="302" r:id="rId30"/>
    <p:sldId id="303" r:id="rId31"/>
    <p:sldId id="304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3"/>
  </p:normalViewPr>
  <p:slideViewPr>
    <p:cSldViewPr snapToGrid="0" snapToObjects="1">
      <p:cViewPr>
        <p:scale>
          <a:sx n="100" d="100"/>
          <a:sy n="100" d="100"/>
        </p:scale>
        <p:origin x="1914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Microsoft_Excel_Macro-Enabled_Worksheet.xlsm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1D2B1606-78BE-83ED-FCE9-89FB97E5E9C7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>
          <a:xfrm>
            <a:off x="928328" y="1872983"/>
            <a:ext cx="7360823" cy="1792301"/>
          </a:xfrm>
          <a:gradFill rotWithShape="0">
            <a:gsLst>
              <a:gs pos="0">
                <a:srgbClr val="F5FBFE"/>
              </a:gs>
              <a:gs pos="74001">
                <a:srgbClr val="A2DAF6"/>
              </a:gs>
              <a:gs pos="83000">
                <a:srgbClr val="A2DAF6"/>
              </a:gs>
              <a:gs pos="100000">
                <a:srgbClr val="C1E6F9"/>
              </a:gs>
            </a:gsLst>
            <a:lin ang="5400000"/>
          </a:gradFill>
        </p:spPr>
        <p:txBody>
          <a:bodyPr/>
          <a:lstStyle/>
          <a:p>
            <a:pPr algn="ctr" eaLnBrk="1" hangingPunct="1"/>
            <a:r>
              <a:rPr lang="en-US" altLang="en-US" sz="3993" dirty="0"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MTECH AAI COHORT-1 Dissertation Project – Phase II</a:t>
            </a:r>
          </a:p>
        </p:txBody>
      </p:sp>
      <p:sp>
        <p:nvSpPr>
          <p:cNvPr id="40963" name="Subtitle 2">
            <a:extLst>
              <a:ext uri="{FF2B5EF4-FFF2-40B4-BE49-F238E27FC236}">
                <a16:creationId xmlns:a16="http://schemas.microsoft.com/office/drawing/2014/main" id="{FDCC5EB1-7126-2DDF-6202-C7CCA9514552}"/>
              </a:ext>
            </a:extLst>
          </p:cNvPr>
          <p:cNvSpPr txBox="1">
            <a:spLocks noGrp="1" noChangeArrowheads="1"/>
          </p:cNvSpPr>
          <p:nvPr>
            <p:ph type="subTitle" sz="quarter" idx="1"/>
          </p:nvPr>
        </p:nvSpPr>
        <p:spPr>
          <a:xfrm>
            <a:off x="928328" y="5191046"/>
            <a:ext cx="7360823" cy="1241932"/>
          </a:xfrm>
          <a:gradFill rotWithShape="0">
            <a:gsLst>
              <a:gs pos="0">
                <a:srgbClr val="F5FBFE"/>
              </a:gs>
              <a:gs pos="74001">
                <a:srgbClr val="A2DAF6"/>
              </a:gs>
              <a:gs pos="83000">
                <a:srgbClr val="A2DAF6"/>
              </a:gs>
              <a:gs pos="100000">
                <a:srgbClr val="C1E6F9"/>
              </a:gs>
            </a:gsLst>
            <a:lin ang="5400000"/>
          </a:gradFill>
        </p:spPr>
        <p:txBody>
          <a:bodyPr>
            <a:normAutofit fontScale="77500" lnSpcReduction="20000"/>
          </a:bodyPr>
          <a:lstStyle/>
          <a:p>
            <a:pPr algn="ctr" eaLnBrk="1" hangingPunct="1"/>
            <a:r>
              <a:rPr lang="en-US" altLang="en-US" b="1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Presented by:</a:t>
            </a:r>
            <a:r>
              <a:rPr lang="en-US" altLang="en-US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Sanjeev Kumar Pandey	</a:t>
            </a:r>
          </a:p>
          <a:p>
            <a:pPr algn="ctr" eaLnBrk="1" hangingPunct="1"/>
            <a:r>
              <a:rPr lang="en-US" altLang="en-US" b="1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Enrolment No:</a:t>
            </a:r>
            <a:r>
              <a:rPr lang="en-US" altLang="en-US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MT23AAI001</a:t>
            </a:r>
          </a:p>
          <a:p>
            <a:pPr algn="ctr" eaLnBrk="1" hangingPunct="1"/>
            <a:r>
              <a:rPr lang="en-US" altLang="en-US" b="1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Project Guide:</a:t>
            </a:r>
            <a:r>
              <a:rPr lang="en-US" altLang="en-US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Dr. Amit Agrawal</a:t>
            </a:r>
          </a:p>
        </p:txBody>
      </p:sp>
      <p:pic>
        <p:nvPicPr>
          <p:cNvPr id="40964" name="Picture 4" descr="Picture 4">
            <a:extLst>
              <a:ext uri="{FF2B5EF4-FFF2-40B4-BE49-F238E27FC236}">
                <a16:creationId xmlns:a16="http://schemas.microsoft.com/office/drawing/2014/main" id="{A3DD3686-914F-0F5B-71C8-AE7968240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489" y="497061"/>
            <a:ext cx="1179980" cy="127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40965" name="Subtitle 2">
            <a:extLst>
              <a:ext uri="{FF2B5EF4-FFF2-40B4-BE49-F238E27FC236}">
                <a16:creationId xmlns:a16="http://schemas.microsoft.com/office/drawing/2014/main" id="{420358C7-AC25-5975-3F92-C79BA405B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309" y="3806478"/>
            <a:ext cx="7359383" cy="462483"/>
          </a:xfrm>
          <a:prstGeom prst="rect">
            <a:avLst/>
          </a:prstGeom>
          <a:gradFill rotWithShape="0">
            <a:gsLst>
              <a:gs pos="0">
                <a:srgbClr val="F5FBFE"/>
              </a:gs>
              <a:gs pos="74001">
                <a:srgbClr val="A2DAF6"/>
              </a:gs>
              <a:gs pos="83000">
                <a:srgbClr val="A2DAF6"/>
              </a:gs>
              <a:gs pos="100000">
                <a:srgbClr val="C1E6F9"/>
              </a:gs>
            </a:gsLst>
            <a:lin ang="5400000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1493" rIns="41493"/>
          <a:lstStyle>
            <a:lvl1pPr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1pPr>
            <a:lvl2pPr marL="874713" indent="-371475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2pPr>
            <a:lvl3pPr marL="1438275" indent="-430213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3pPr>
            <a:lvl4pPr marL="1800225" indent="-288925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4pPr>
            <a:lvl5pPr marL="2343150" indent="-327025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5pPr>
            <a:lvl6pPr marL="28003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6pPr>
            <a:lvl7pPr marL="32575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7pPr>
            <a:lvl8pPr marL="37147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8pPr>
            <a:lvl9pPr marL="41719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9pPr>
          </a:lstStyle>
          <a:p>
            <a:pPr algn="ctr" eaLnBrk="1">
              <a:buClrTx/>
              <a:buSzTx/>
              <a:buFontTx/>
              <a:buNone/>
            </a:pPr>
            <a:r>
              <a:rPr lang="en-US" altLang="en-US" sz="1724" b="1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Evaluation-I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Human ID &amp; Activity Prediction using Wi-Fi Signals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Leveraging Wi-Fi Channel State Information (CSI) and RSSI</a:t>
            </a:r>
            <a:endParaRPr lang="en-IN" dirty="0"/>
          </a:p>
          <a:p>
            <a:r>
              <a:rPr lang="en-GB" dirty="0"/>
              <a:t>Sanjeev Kumar Pandey</a:t>
            </a:r>
            <a:r>
              <a:rPr dirty="0"/>
              <a:t> | </a:t>
            </a:r>
            <a:r>
              <a:rPr lang="en-IN" dirty="0"/>
              <a:t>10-Sep-2025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b="1" dirty="0"/>
              <a:t>Dataset Aim:</a:t>
            </a:r>
            <a:r>
              <a:rPr dirty="0"/>
              <a:t> Wi-Fi-based Human Activity Recognition (HAR) in indoor environments (LOS &amp; NLOS).</a:t>
            </a:r>
          </a:p>
          <a:p>
            <a:r>
              <a:rPr b="1" dirty="0"/>
              <a:t>Objective 1:</a:t>
            </a:r>
            <a:r>
              <a:rPr dirty="0"/>
              <a:t> Detect the activity action type from Wi-Fi signals.</a:t>
            </a:r>
          </a:p>
          <a:p>
            <a:r>
              <a:rPr b="1" dirty="0"/>
              <a:t>Objective 2:</a:t>
            </a:r>
            <a:r>
              <a:rPr dirty="0"/>
              <a:t> Detect the ID of the person performing the activity.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F4A46-A213-6598-1CBA-9BC01FD8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5DE616-4AC0-1627-AD05-DD0BC498B3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451" y="274638"/>
            <a:ext cx="8537098" cy="6004782"/>
          </a:xfrm>
        </p:spPr>
      </p:pic>
    </p:spTree>
    <p:extLst>
      <p:ext uri="{BB962C8B-B14F-4D97-AF65-F5344CB8AC3E}">
        <p14:creationId xmlns:p14="http://schemas.microsoft.com/office/powerpoint/2010/main" val="799792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8ECC0-AC8D-207E-58AB-0F2D3B7FF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Planning overview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B6CC3-41A5-CD5B-779A-BA3588AEB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Literature Review &amp; Planning: </a:t>
            </a:r>
            <a:r>
              <a:rPr lang="en-GB" dirty="0"/>
              <a:t>Start with reading key papers, setting objectives, and technical planning.</a:t>
            </a:r>
          </a:p>
          <a:p>
            <a:r>
              <a:rPr lang="en-GB" b="1" dirty="0"/>
              <a:t>Data Understanding &amp; Preprocessing:</a:t>
            </a:r>
            <a:r>
              <a:rPr lang="en-GB" dirty="0"/>
              <a:t> Explore dataset, feature extraction, and handle CSI/RSSI preprocessing.</a:t>
            </a:r>
          </a:p>
          <a:p>
            <a:r>
              <a:rPr lang="en-GB" b="1" dirty="0"/>
              <a:t>Initial Coding &amp; Baseline Model (Eval 1):</a:t>
            </a:r>
            <a:r>
              <a:rPr lang="en-GB" dirty="0"/>
              <a:t> Set up coding, implement baseline models, run initial training and evaluation.</a:t>
            </a:r>
          </a:p>
          <a:p>
            <a:r>
              <a:rPr lang="en-GB" b="1" dirty="0"/>
              <a:t>Advanced Model Training &amp; Experimentation (Eval 2):</a:t>
            </a:r>
            <a:r>
              <a:rPr lang="en-GB" dirty="0"/>
              <a:t> Design and train advanced models (HAR, Human ID, multi-output), experiment, and tune.</a:t>
            </a:r>
          </a:p>
          <a:p>
            <a:r>
              <a:rPr lang="en-GB" b="1" dirty="0"/>
              <a:t>Analysis &amp; Integration:</a:t>
            </a:r>
            <a:r>
              <a:rPr lang="en-GB" dirty="0"/>
              <a:t> Compare results, integrate best-performing models, and conduct error analysis.</a:t>
            </a:r>
          </a:p>
          <a:p>
            <a:r>
              <a:rPr lang="en-GB" b="1" dirty="0"/>
              <a:t>Research Paper Drafting &amp; Documentation:</a:t>
            </a:r>
            <a:r>
              <a:rPr lang="en-GB" dirty="0"/>
              <a:t> Start documentation and research paper draft, plus slides for presentation.</a:t>
            </a:r>
          </a:p>
          <a:p>
            <a:r>
              <a:rPr lang="en-GB" b="1" dirty="0"/>
              <a:t>Final Report &amp; Presentation (Eval 3):</a:t>
            </a:r>
            <a:r>
              <a:rPr lang="en-GB" dirty="0"/>
              <a:t> Polish final report, prepare for oral </a:t>
            </a:r>
            <a:r>
              <a:rPr lang="en-GB" dirty="0" err="1"/>
              <a:t>defense</a:t>
            </a:r>
            <a:r>
              <a:rPr lang="en-GB" dirty="0"/>
              <a:t>, and respond to committee feedback.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7732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b="1" dirty="0"/>
              <a:t>Source Paper:</a:t>
            </a:r>
            <a:r>
              <a:rPr dirty="0"/>
              <a:t> 'A dataset for Wi-Fi-based human activity recognition in LOS and NLOS indoor environments'.</a:t>
            </a:r>
            <a:r>
              <a:rPr lang="en-IN" dirty="0"/>
              <a:t> https://pmc.ncbi.nlm.nih.gov/articles/PMC7704290/pdf/main.pdf</a:t>
            </a:r>
            <a:endParaRPr dirty="0"/>
          </a:p>
          <a:p>
            <a:r>
              <a:rPr b="1" dirty="0"/>
              <a:t>Authors:</a:t>
            </a:r>
            <a:r>
              <a:rPr dirty="0"/>
              <a:t> Baha’ A </a:t>
            </a:r>
            <a:r>
              <a:rPr dirty="0" err="1"/>
              <a:t>Alsaify</a:t>
            </a:r>
            <a:r>
              <a:rPr dirty="0"/>
              <a:t> et al., Jordan University of Science and Technology, German Jordanian University.</a:t>
            </a:r>
          </a:p>
          <a:p>
            <a:r>
              <a:rPr b="1" dirty="0"/>
              <a:t>Publication Date:</a:t>
            </a:r>
            <a:r>
              <a:rPr dirty="0"/>
              <a:t> November 18, 2020.</a:t>
            </a:r>
          </a:p>
          <a:p>
            <a:r>
              <a:rPr b="1" dirty="0"/>
              <a:t>Purpose:</a:t>
            </a:r>
            <a:r>
              <a:rPr dirty="0"/>
              <a:t> Benchmark dataset for HAR research across LOS &amp; NLOS settings.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Features of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b="1" dirty="0"/>
              <a:t>Participants:</a:t>
            </a:r>
            <a:r>
              <a:rPr dirty="0"/>
              <a:t> 30 subjects (28 male, 2 female), age ~22.7 ± 2.95 years.</a:t>
            </a:r>
          </a:p>
          <a:p>
            <a:r>
              <a:rPr b="1" dirty="0"/>
              <a:t>Activities:</a:t>
            </a:r>
            <a:r>
              <a:rPr dirty="0"/>
              <a:t> 12 unique actions across 5 experiment classes.</a:t>
            </a:r>
          </a:p>
          <a:p>
            <a:r>
              <a:rPr b="1" dirty="0"/>
              <a:t>Environments:</a:t>
            </a:r>
            <a:r>
              <a:rPr dirty="0"/>
              <a:t> 2 LOS (lab, hallway) + 1 NLOS (wooden wall barrier).</a:t>
            </a:r>
          </a:p>
          <a:p>
            <a:r>
              <a:rPr b="1" dirty="0"/>
              <a:t>Data Types:</a:t>
            </a:r>
            <a:r>
              <a:rPr dirty="0"/>
              <a:t> Channel State Information (CSI) and RSSI values.</a:t>
            </a:r>
          </a:p>
          <a:p>
            <a:r>
              <a:rPr b="1" dirty="0"/>
              <a:t>File Naming:</a:t>
            </a:r>
            <a:r>
              <a:rPr dirty="0"/>
              <a:t> Ex_Sy_Cz_Ai_Tk.csv (e.g., E1_S04_C3_A7_T17.csv).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Feasibility of Human ID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Subject ID explicitly labeled in filenames (S1–S30).</a:t>
            </a:r>
          </a:p>
          <a:p>
            <a:r>
              <a:rPr dirty="0"/>
              <a:t>Biometric info (age, weight, height) subtly affects signals.</a:t>
            </a:r>
          </a:p>
          <a:p>
            <a:r>
              <a:rPr dirty="0"/>
              <a:t>CSI &amp; RSSI are sensitive to individual movement signatures.</a:t>
            </a:r>
          </a:p>
          <a:p>
            <a:r>
              <a:rPr dirty="0"/>
              <a:t>Rich dataset (3000 trials) suitable for Human ID modeling.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Use Case: Security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Traditional biometrics (faces, fingerprints) can be spoofed &amp; require active participation.</a:t>
            </a:r>
          </a:p>
          <a:p>
            <a:r>
              <a:rPr dirty="0"/>
              <a:t>Wi-Fi-based ID is passive, non-intrusive, and works in NLOS environments.</a:t>
            </a:r>
          </a:p>
          <a:p>
            <a:r>
              <a:rPr b="1" dirty="0"/>
              <a:t>Applications:</a:t>
            </a:r>
            <a:r>
              <a:rPr dirty="0"/>
              <a:t> High-security zones (ISRO, NASA, Parliament House), covert surveillance, medical alerts.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Target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b="1" dirty="0"/>
              <a:t>HAR Activity Recognition: </a:t>
            </a:r>
            <a:r>
              <a:rPr dirty="0"/>
              <a:t>Classify 12 unique activities (A1–A12).</a:t>
            </a:r>
          </a:p>
          <a:p>
            <a:r>
              <a:rPr b="1" dirty="0"/>
              <a:t>Human ID:</a:t>
            </a:r>
            <a:r>
              <a:rPr dirty="0"/>
              <a:t> Identify 1 of 30 subjects (S1–S30).</a:t>
            </a:r>
          </a:p>
          <a:p>
            <a:r>
              <a:rPr b="1" dirty="0"/>
              <a:t>Input Data:</a:t>
            </a:r>
            <a:r>
              <a:rPr dirty="0"/>
              <a:t> CSI &amp; RSSI values sensitive to presence &amp; movement.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 Development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Approach 1:</a:t>
            </a:r>
            <a:r>
              <a:rPr dirty="0"/>
              <a:t> Two Separate Models</a:t>
            </a:r>
            <a:endParaRPr lang="en-IN" dirty="0"/>
          </a:p>
          <a:p>
            <a:pPr lvl="1"/>
            <a:r>
              <a:rPr dirty="0"/>
              <a:t>HAR Activity Classifier (12 classes).</a:t>
            </a:r>
            <a:endParaRPr lang="en-IN" dirty="0"/>
          </a:p>
          <a:p>
            <a:pPr lvl="1"/>
            <a:r>
              <a:rPr dirty="0"/>
              <a:t>Human ID Classifier (30 subjects).</a:t>
            </a:r>
            <a:endParaRPr lang="en-IN" dirty="0"/>
          </a:p>
          <a:p>
            <a:r>
              <a:rPr b="1" dirty="0"/>
              <a:t>Approach 2:</a:t>
            </a:r>
            <a:r>
              <a:rPr dirty="0"/>
              <a:t> One Multi-Output Model</a:t>
            </a:r>
            <a:endParaRPr lang="en-IN" dirty="0"/>
          </a:p>
          <a:p>
            <a:pPr lvl="1"/>
            <a:r>
              <a:rPr dirty="0"/>
              <a:t>Single model with shared features.</a:t>
            </a:r>
            <a:endParaRPr lang="en-IN" dirty="0"/>
          </a:p>
          <a:p>
            <a:pPr lvl="1"/>
            <a:r>
              <a:rPr dirty="0"/>
              <a:t>Two output heads: Activity &amp; ID.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Dataset provides rich labeled Wi-Fi signal data (CSI, RSSI).</a:t>
            </a:r>
          </a:p>
          <a:p>
            <a:r>
              <a:t>Suitable for both HAR and Human ID tasks.</a:t>
            </a:r>
          </a:p>
          <a:p>
            <a:r>
              <a:t>Choice: Separate models (simplicity) vs. Multi-output model (efficiency).</a:t>
            </a:r>
          </a:p>
          <a:p>
            <a:r>
              <a:t>Next Step: Implement and evaluate both approaches.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B1AFA-B69D-8209-CF0E-11DE562DB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AB3869B0-4FB0-7860-467C-7FBBC7E9F867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>
          <a:xfrm>
            <a:off x="928328" y="1872983"/>
            <a:ext cx="7360823" cy="1792301"/>
          </a:xfrm>
          <a:gradFill rotWithShape="0">
            <a:gsLst>
              <a:gs pos="0">
                <a:srgbClr val="F5FBFE"/>
              </a:gs>
              <a:gs pos="74001">
                <a:srgbClr val="A2DAF6"/>
              </a:gs>
              <a:gs pos="83000">
                <a:srgbClr val="A2DAF6"/>
              </a:gs>
              <a:gs pos="100000">
                <a:srgbClr val="C1E6F9"/>
              </a:gs>
            </a:gsLst>
            <a:lin ang="5400000"/>
          </a:gradFill>
        </p:spPr>
        <p:txBody>
          <a:bodyPr/>
          <a:lstStyle/>
          <a:p>
            <a:pPr algn="ctr" eaLnBrk="1" hangingPunct="1"/>
            <a:r>
              <a:rPr lang="en-US" altLang="en-US" sz="3993" dirty="0"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MTECH AAI COHORT-1 Dissertation Project – Phase II</a:t>
            </a:r>
          </a:p>
        </p:txBody>
      </p:sp>
      <p:sp>
        <p:nvSpPr>
          <p:cNvPr id="40963" name="Subtitle 2">
            <a:extLst>
              <a:ext uri="{FF2B5EF4-FFF2-40B4-BE49-F238E27FC236}">
                <a16:creationId xmlns:a16="http://schemas.microsoft.com/office/drawing/2014/main" id="{4720A5C6-F00C-E8D3-7DC8-DDD750DE7AE9}"/>
              </a:ext>
            </a:extLst>
          </p:cNvPr>
          <p:cNvSpPr txBox="1">
            <a:spLocks noGrp="1" noChangeArrowheads="1"/>
          </p:cNvSpPr>
          <p:nvPr>
            <p:ph type="subTitle" sz="quarter" idx="1"/>
          </p:nvPr>
        </p:nvSpPr>
        <p:spPr>
          <a:xfrm>
            <a:off x="928328" y="4572000"/>
            <a:ext cx="7360823" cy="1432290"/>
          </a:xfrm>
          <a:gradFill rotWithShape="0">
            <a:gsLst>
              <a:gs pos="0">
                <a:srgbClr val="F5FBFE"/>
              </a:gs>
              <a:gs pos="74001">
                <a:srgbClr val="A2DAF6"/>
              </a:gs>
              <a:gs pos="83000">
                <a:srgbClr val="A2DAF6"/>
              </a:gs>
              <a:gs pos="100000">
                <a:srgbClr val="C1E6F9"/>
              </a:gs>
            </a:gsLst>
            <a:lin ang="5400000"/>
          </a:gradFill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1800" b="1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Presented by:</a:t>
            </a:r>
            <a:r>
              <a:rPr lang="en-US" altLang="en-US" sz="1800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Sanjeev Kumar Pandey	</a:t>
            </a:r>
          </a:p>
          <a:p>
            <a:pPr algn="ctr" eaLnBrk="1" hangingPunct="1"/>
            <a:r>
              <a:rPr lang="en-US" altLang="en-US" sz="1800" b="1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Enrolment No:</a:t>
            </a:r>
            <a:r>
              <a:rPr lang="en-US" altLang="en-US" sz="1800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MT23AAI001</a:t>
            </a:r>
          </a:p>
          <a:p>
            <a:pPr algn="ctr" eaLnBrk="1" hangingPunct="1"/>
            <a:r>
              <a:rPr lang="en-US" altLang="en-US" sz="1800" b="1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Project Guide:</a:t>
            </a:r>
            <a:r>
              <a:rPr lang="en-US" altLang="en-US" sz="1800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Dr. Amit Agrawal</a:t>
            </a:r>
          </a:p>
          <a:p>
            <a:pPr algn="ctr" eaLnBrk="1" hangingPunct="1"/>
            <a:r>
              <a:rPr lang="en-US" altLang="en-US" sz="1800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Date: 11-Oct-2025</a:t>
            </a:r>
          </a:p>
          <a:p>
            <a:pPr algn="ctr" eaLnBrk="1" hangingPunct="1"/>
            <a:endParaRPr lang="en-US" altLang="en-US" dirty="0">
              <a:solidFill>
                <a:srgbClr val="898989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40964" name="Picture 4" descr="Picture 4">
            <a:extLst>
              <a:ext uri="{FF2B5EF4-FFF2-40B4-BE49-F238E27FC236}">
                <a16:creationId xmlns:a16="http://schemas.microsoft.com/office/drawing/2014/main" id="{5686DB45-F136-D6C2-2FED-8998CE9B5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489" y="497061"/>
            <a:ext cx="1179980" cy="127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40965" name="Subtitle 2">
            <a:extLst>
              <a:ext uri="{FF2B5EF4-FFF2-40B4-BE49-F238E27FC236}">
                <a16:creationId xmlns:a16="http://schemas.microsoft.com/office/drawing/2014/main" id="{E1854431-C2E5-21B9-2720-FB6CB58D9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309" y="3806478"/>
            <a:ext cx="7359383" cy="462483"/>
          </a:xfrm>
          <a:prstGeom prst="rect">
            <a:avLst/>
          </a:prstGeom>
          <a:gradFill rotWithShape="0">
            <a:gsLst>
              <a:gs pos="0">
                <a:srgbClr val="F5FBFE"/>
              </a:gs>
              <a:gs pos="74001">
                <a:srgbClr val="A2DAF6"/>
              </a:gs>
              <a:gs pos="83000">
                <a:srgbClr val="A2DAF6"/>
              </a:gs>
              <a:gs pos="100000">
                <a:srgbClr val="C1E6F9"/>
              </a:gs>
            </a:gsLst>
            <a:lin ang="5400000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1493" rIns="41493"/>
          <a:lstStyle>
            <a:lvl1pPr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1pPr>
            <a:lvl2pPr marL="874713" indent="-371475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2pPr>
            <a:lvl3pPr marL="1438275" indent="-430213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3pPr>
            <a:lvl4pPr marL="1800225" indent="-288925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4pPr>
            <a:lvl5pPr marL="2343150" indent="-327025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5pPr>
            <a:lvl6pPr marL="28003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6pPr>
            <a:lvl7pPr marL="32575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7pPr>
            <a:lvl8pPr marL="37147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8pPr>
            <a:lvl9pPr marL="41719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9pPr>
          </a:lstStyle>
          <a:p>
            <a:pPr algn="ctr" eaLnBrk="1">
              <a:buClrTx/>
              <a:buSzTx/>
              <a:buFontTx/>
              <a:buNone/>
            </a:pPr>
            <a:r>
              <a:rPr lang="en-US" altLang="en-US" sz="1724" b="1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Evaluation-II</a:t>
            </a:r>
          </a:p>
        </p:txBody>
      </p:sp>
    </p:spTree>
    <p:extLst>
      <p:ext uri="{BB962C8B-B14F-4D97-AF65-F5344CB8AC3E}">
        <p14:creationId xmlns:p14="http://schemas.microsoft.com/office/powerpoint/2010/main" val="3121672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DC596-0483-D103-350E-27BDE12A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DAACA-8902-D931-43F3-B5B42DFA7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F9533A-3F13-58E0-EF2C-FFFB0275E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274" y="274638"/>
            <a:ext cx="6875451" cy="597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03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A248F-75E2-9BF8-BBB7-172E8E1C4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C130E-0F09-976D-6A89-E98D158EB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6504C2-78F6-E1FA-7261-49322CAF5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84" y="819998"/>
            <a:ext cx="7573432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87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9EA5-57DE-DB04-C788-6CD6F9FA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E3C58-E039-7F92-1112-A2DF84446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740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IN" sz="1800" dirty="0"/>
              <a:t>The project performs a comparative study across four distinct DL architectures, all designed to process both the time-series CSI sequence and the auxiliary metadata sequence simultaneously.</a:t>
            </a:r>
            <a:endParaRPr lang="en-GB" sz="1800" dirty="0"/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D99F99-8449-CB84-590B-0E671E016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5649"/>
              </p:ext>
            </p:extLst>
          </p:nvPr>
        </p:nvGraphicFramePr>
        <p:xfrm>
          <a:off x="497660" y="2641092"/>
          <a:ext cx="8003024" cy="3566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7975">
                  <a:extLst>
                    <a:ext uri="{9D8B030D-6E8A-4147-A177-3AD203B41FA5}">
                      <a16:colId xmlns:a16="http://schemas.microsoft.com/office/drawing/2014/main" val="131300539"/>
                    </a:ext>
                  </a:extLst>
                </a:gridCol>
                <a:gridCol w="1294726">
                  <a:extLst>
                    <a:ext uri="{9D8B030D-6E8A-4147-A177-3AD203B41FA5}">
                      <a16:colId xmlns:a16="http://schemas.microsoft.com/office/drawing/2014/main" val="1153110472"/>
                    </a:ext>
                  </a:extLst>
                </a:gridCol>
                <a:gridCol w="1100517">
                  <a:extLst>
                    <a:ext uri="{9D8B030D-6E8A-4147-A177-3AD203B41FA5}">
                      <a16:colId xmlns:a16="http://schemas.microsoft.com/office/drawing/2014/main" val="4057886831"/>
                    </a:ext>
                  </a:extLst>
                </a:gridCol>
                <a:gridCol w="3499806">
                  <a:extLst>
                    <a:ext uri="{9D8B030D-6E8A-4147-A177-3AD203B41FA5}">
                      <a16:colId xmlns:a16="http://schemas.microsoft.com/office/drawing/2014/main" val="10070758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Model Name</a:t>
                      </a:r>
                      <a:endParaRPr lang="en-GB" sz="105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CSI Processing Core</a:t>
                      </a:r>
                      <a:endParaRPr lang="en-GB" sz="105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Metadata Processing Core</a:t>
                      </a:r>
                      <a:endParaRPr lang="en-GB" sz="105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Features</a:t>
                      </a:r>
                      <a:endParaRPr lang="en-GB" sz="105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992217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CSILSTMNet</a:t>
                      </a:r>
                      <a:endParaRPr lang="en-GB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LSTM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LSTM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Uses the last hidden state from two parallel LSTMs (one for CSI, one for Meta).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618526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DenseNet1D</a:t>
                      </a:r>
                      <a:endParaRPr lang="en-GB" sz="1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Dense Block 1D CNN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Bidirectional LSTM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Uses 1D CNN blocks (DenseBlock1D) followed by global pooling for CSI, combined with a Bi-LSTM for metadata.</a:t>
                      </a:r>
                      <a:endParaRPr lang="en-GB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04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EfficientNet1DLSTM</a:t>
                      </a:r>
                      <a:endParaRPr lang="en-GB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MBConv1D Blocks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Bidirectional LSTM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Leverages 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Mobile Inverted Bottleneck (</a:t>
                      </a: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MBConv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blocks (stem, mbconv1-3) designed for efficiency, combined with a Bi-LSTM.</a:t>
                      </a:r>
                      <a:endParaRPr lang="en-GB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600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MobileNetV3_1D_LSTM</a:t>
                      </a:r>
                      <a:endParaRPr lang="en-GB" sz="1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MobileNetV3 Block 1D</a:t>
                      </a:r>
                      <a:endParaRPr lang="en-GB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Bidirectional LSTM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Incorporates specialized blocks (including </a:t>
                      </a:r>
                      <a:r>
                        <a:rPr lang="en-IN" sz="1400" kern="0" dirty="0" err="1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depthwise</a:t>
                      </a: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separable convolutions and Squeeze-and-Excitation (SE) layers) optimized for mobile/efficient computing, combined with a Bi-LSTM.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982214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6876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EE305-B15F-3310-1FC2-36CE18B35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MLflow</a:t>
            </a:r>
            <a:r>
              <a:rPr lang="en-GB" b="1" dirty="0"/>
              <a:t> Integration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4B239-B5A5-03B6-A861-E76C71CF7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Feature Focus:</a:t>
            </a:r>
            <a:r>
              <a:rPr lang="en-GB" dirty="0"/>
              <a:t> Seamless integration with </a:t>
            </a:r>
            <a:r>
              <a:rPr lang="en-GB" b="1" dirty="0" err="1"/>
              <a:t>MLflow</a:t>
            </a:r>
            <a:r>
              <a:rPr lang="en-GB" dirty="0"/>
              <a:t> for experiment tracking and performance comparison.</a:t>
            </a:r>
          </a:p>
          <a:p>
            <a:r>
              <a:rPr lang="en-GB" b="1" dirty="0"/>
              <a:t>What It Does:</a:t>
            </a:r>
            <a:endParaRPr lang="en-GB" dirty="0"/>
          </a:p>
          <a:p>
            <a:pPr lvl="1"/>
            <a:r>
              <a:rPr lang="en-GB" dirty="0"/>
              <a:t>Automatically logs </a:t>
            </a:r>
            <a:r>
              <a:rPr lang="en-GB" b="1" dirty="0"/>
              <a:t>training runs</a:t>
            </a:r>
            <a:r>
              <a:rPr lang="en-GB" dirty="0"/>
              <a:t> for all four models — DenseNet1D, EfficientNet1DLSTM, MobileNetV3_1D_LSTM, and LSTM.</a:t>
            </a:r>
          </a:p>
          <a:p>
            <a:pPr lvl="1"/>
            <a:r>
              <a:rPr lang="en-GB" dirty="0"/>
              <a:t>Captures </a:t>
            </a:r>
            <a:r>
              <a:rPr lang="en-GB" b="1" dirty="0"/>
              <a:t>hyperparameters, metrics (Accuracy, F1, Precision, Recall, AUC),</a:t>
            </a:r>
            <a:r>
              <a:rPr lang="en-GB" dirty="0"/>
              <a:t> and </a:t>
            </a:r>
            <a:r>
              <a:rPr lang="en-GB" b="1" dirty="0"/>
              <a:t>loss curves</a:t>
            </a:r>
            <a:r>
              <a:rPr lang="en-GB" dirty="0"/>
              <a:t> per epoch.</a:t>
            </a:r>
          </a:p>
          <a:p>
            <a:r>
              <a:rPr lang="en-GB" b="1" dirty="0"/>
              <a:t>Why It Matters:</a:t>
            </a:r>
            <a:endParaRPr lang="en-GB" dirty="0"/>
          </a:p>
          <a:p>
            <a:pPr lvl="1"/>
            <a:r>
              <a:rPr lang="en-GB" dirty="0"/>
              <a:t>Enables </a:t>
            </a:r>
            <a:r>
              <a:rPr lang="en-GB" b="1" dirty="0"/>
              <a:t>side-by-side model comparison</a:t>
            </a:r>
            <a:r>
              <a:rPr lang="en-GB" dirty="0"/>
              <a:t> through </a:t>
            </a:r>
            <a:r>
              <a:rPr lang="en-GB" dirty="0" err="1"/>
              <a:t>MLflow</a:t>
            </a:r>
            <a:r>
              <a:rPr lang="en-GB" dirty="0"/>
              <a:t> dashboards and visual graphs.</a:t>
            </a:r>
          </a:p>
          <a:p>
            <a:pPr lvl="1"/>
            <a:r>
              <a:rPr lang="en-GB" dirty="0"/>
              <a:t>Ensures </a:t>
            </a:r>
            <a:r>
              <a:rPr lang="en-GB" b="1" dirty="0"/>
              <a:t>reproducibility</a:t>
            </a:r>
            <a:r>
              <a:rPr lang="en-GB" dirty="0"/>
              <a:t> and transparency of experiments.</a:t>
            </a:r>
          </a:p>
          <a:p>
            <a:pPr lvl="1"/>
            <a:r>
              <a:rPr lang="en-GB" dirty="0"/>
              <a:t>Simplifies identification of the </a:t>
            </a:r>
            <a:r>
              <a:rPr lang="en-GB" b="1" dirty="0"/>
              <a:t>best-performing model</a:t>
            </a:r>
            <a:r>
              <a:rPr lang="en-GB" dirty="0"/>
              <a:t> over 100 epochs.</a:t>
            </a:r>
          </a:p>
          <a:p>
            <a:r>
              <a:rPr lang="en-GB" b="1" dirty="0"/>
              <a:t>Outcome:</a:t>
            </a:r>
            <a:r>
              <a:rPr lang="en-GB" dirty="0"/>
              <a:t> Data-driven insights for model selection and performance optimization.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8751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C1421-C036-AE19-AB16-2E00066C8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CSI Data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C34B50-2950-516C-49C9-C0D4E443D9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1️⃣ </a:t>
                </a:r>
                <a:r>
                  <a:rPr lang="en-GB" b="1" dirty="0"/>
                  <a:t>CSI Data Overview </a:t>
                </a:r>
              </a:p>
              <a:p>
                <a:pPr marL="0" indent="0">
                  <a:buNone/>
                </a:pPr>
                <a:r>
                  <a:rPr lang="en-GB" dirty="0"/>
                  <a:t>Convert raw </a:t>
                </a:r>
                <a:r>
                  <a:rPr lang="en-GB" dirty="0" err="1"/>
                  <a:t>WiFi</a:t>
                </a:r>
                <a:r>
                  <a:rPr lang="en-GB" dirty="0"/>
                  <a:t> Channel State Information (CSI) signals into numerical features suitable for model training.</a:t>
                </a:r>
              </a:p>
              <a:p>
                <a:r>
                  <a:rPr lang="en-GB" b="1" dirty="0"/>
                  <a:t>Nature of CSI:</a:t>
                </a:r>
                <a:r>
                  <a:rPr lang="en-GB" dirty="0"/>
                  <a:t> Each CSI sample is a </a:t>
                </a:r>
                <a:r>
                  <a:rPr lang="en-GB" b="1" dirty="0"/>
                  <a:t>complex number</a:t>
                </a:r>
                <a:r>
                  <a:rPr lang="en-GB" dirty="0"/>
                  <a:t> representing the amplitude and phase response of each subcarrier in a </a:t>
                </a:r>
                <a:r>
                  <a:rPr lang="en-GB" dirty="0" err="1"/>
                  <a:t>WiFi</a:t>
                </a:r>
                <a:r>
                  <a:rPr lang="en-GB" dirty="0"/>
                  <a:t> link.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i="1"/>
                        <m:t>Re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m:rPr>
                          <m:nor/>
                        </m:rPr>
                        <a:rPr lang="en-GB" i="1"/>
                        <m:t>Im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en-GB" dirty="0"/>
                  <a:t>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GB" dirty="0"/>
                  <a:t>amplitude (signal strength)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GB" dirty="0"/>
                  <a:t>phase shift caused by environment/human presence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: subcarrier index,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: time index</a:t>
                </a:r>
              </a:p>
              <a:p>
                <a:pPr marL="0" indent="0">
                  <a:buNone/>
                </a:pPr>
                <a:br>
                  <a:rPr lang="en-GB" dirty="0"/>
                </a:br>
                <a:r>
                  <a:rPr lang="en-GB" b="1" dirty="0"/>
                  <a:t>2️⃣ Feature Computation</a:t>
                </a:r>
              </a:p>
              <a:p>
                <a:r>
                  <a:rPr lang="en-GB" b="1" dirty="0"/>
                  <a:t>Amplitude extraction:</a:t>
                </a:r>
                <a:r>
                  <a:rPr lang="en-GB" dirty="0"/>
                  <a:t> converts complex CSI to real-valued form: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∣=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endChr m:val="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GB" i="1"/>
                                <m:t>Re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GB" i="1"/>
                                    <m:t>Im</m:t>
                                  </m:r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rad>
                    </m:oMath>
                  </m:oMathPara>
                </a14:m>
                <a:endParaRPr lang="ar-AE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C34B50-2950-516C-49C9-C0D4E443D9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21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FB50198-F940-11E8-C0C1-4EFB6E0EB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23" y="5783975"/>
            <a:ext cx="6401693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181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D2D0C-340C-686C-4849-BE825CC7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274A7-E2EC-9F62-C841-BE18DCC7F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2EDB7-C9DC-B1B7-C0B3-F32E72986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9746"/>
            <a:ext cx="9144000" cy="409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041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A0FD-CDC0-D7A9-335A-A9D87516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99352-67AE-62AA-3673-05D4C3956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5D334F-52D1-CD12-1502-694323F89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9089"/>
            <a:ext cx="9144000" cy="413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40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6C409-0D88-97FA-6E26-E8039F01D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E6018-ECCD-363C-FBA5-760C5EEB5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CF82F2-D3EC-F163-787B-7BC81E8BF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8248"/>
            <a:ext cx="9144000" cy="410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88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AB0CE-3240-4D8F-D021-9437F1066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25F31-981F-2E89-0ACE-A7ADD2421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CF2C68-7EC9-6BA2-F821-ED984DEC6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8704"/>
            <a:ext cx="9144000" cy="406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64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861F4-C37D-5A47-027D-772C2B81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Model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A19F89-7973-9F08-4E0D-CB6BE40415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6845374"/>
              </p:ext>
            </p:extLst>
          </p:nvPr>
        </p:nvGraphicFramePr>
        <p:xfrm>
          <a:off x="457200" y="3836044"/>
          <a:ext cx="8229600" cy="2600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281">
                  <a:extLst>
                    <a:ext uri="{9D8B030D-6E8A-4147-A177-3AD203B41FA5}">
                      <a16:colId xmlns:a16="http://schemas.microsoft.com/office/drawing/2014/main" val="4008570941"/>
                    </a:ext>
                  </a:extLst>
                </a:gridCol>
                <a:gridCol w="946769">
                  <a:extLst>
                    <a:ext uri="{9D8B030D-6E8A-4147-A177-3AD203B41FA5}">
                      <a16:colId xmlns:a16="http://schemas.microsoft.com/office/drawing/2014/main" val="323992706"/>
                    </a:ext>
                  </a:extLst>
                </a:gridCol>
                <a:gridCol w="1189529">
                  <a:extLst>
                    <a:ext uri="{9D8B030D-6E8A-4147-A177-3AD203B41FA5}">
                      <a16:colId xmlns:a16="http://schemas.microsoft.com/office/drawing/2014/main" val="3738054000"/>
                    </a:ext>
                  </a:extLst>
                </a:gridCol>
                <a:gridCol w="1537486">
                  <a:extLst>
                    <a:ext uri="{9D8B030D-6E8A-4147-A177-3AD203B41FA5}">
                      <a16:colId xmlns:a16="http://schemas.microsoft.com/office/drawing/2014/main" val="2578734096"/>
                    </a:ext>
                  </a:extLst>
                </a:gridCol>
                <a:gridCol w="1586039">
                  <a:extLst>
                    <a:ext uri="{9D8B030D-6E8A-4147-A177-3AD203B41FA5}">
                      <a16:colId xmlns:a16="http://schemas.microsoft.com/office/drawing/2014/main" val="2069725364"/>
                    </a:ext>
                  </a:extLst>
                </a:gridCol>
                <a:gridCol w="1274496">
                  <a:extLst>
                    <a:ext uri="{9D8B030D-6E8A-4147-A177-3AD203B41FA5}">
                      <a16:colId xmlns:a16="http://schemas.microsoft.com/office/drawing/2014/main" val="3864274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Model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Learning Rate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Best Validation Accuracy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Best Validation Precision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Best Validation Recall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Best Validation F1 Score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27139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DenseNet1D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0.0005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0.999938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0.999938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0.999938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0.999938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267054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EfficientNet1DLSTM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0.0005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0.99993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0.99993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0.99993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0.99993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89040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DenseNet1D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0.999904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0.999904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0.999904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0.999904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37789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CSILSTMNet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0.0005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0.999826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0.999826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0.999826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0.999826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484458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CSILSTMNet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0.999814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0.999814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0.999814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0.999814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350923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MobileNetV3_1D_LSTM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0.988529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0.988529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0.988529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0.988529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33055509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60068C6-63C5-7F32-3DFF-229D9CCD5075}"/>
              </a:ext>
            </a:extLst>
          </p:cNvPr>
          <p:cNvSpPr txBox="1"/>
          <p:nvPr/>
        </p:nvSpPr>
        <p:spPr>
          <a:xfrm>
            <a:off x="457200" y="1584364"/>
            <a:ext cx="8229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0" i="0" dirty="0">
                <a:effectLst/>
                <a:latin typeface="fkGrotesk"/>
              </a:rPr>
              <a:t>Model Performance Comparison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fkGroteskNeue"/>
              </a:rPr>
              <a:t>Objective: Evaluate four DL models on experiment data using two learning rates (0.001, 0.0005)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fkGroteskNeue"/>
              </a:rPr>
              <a:t>Top Performing Models: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fkGroteskNeue"/>
              </a:rPr>
              <a:t>DenseNet1D (</a:t>
            </a:r>
            <a:r>
              <a:rPr lang="en-GB" b="0" i="0" dirty="0" err="1">
                <a:effectLst/>
                <a:latin typeface="fkGroteskNeue"/>
              </a:rPr>
              <a:t>lr</a:t>
            </a:r>
            <a:r>
              <a:rPr lang="en-GB" b="0" i="0" dirty="0">
                <a:effectLst/>
                <a:latin typeface="fkGroteskNeue"/>
              </a:rPr>
              <a:t>=0.0005): Best overall metrics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fkGroteskNeue"/>
              </a:rPr>
              <a:t>EfficientNet1DLSTM (</a:t>
            </a:r>
            <a:r>
              <a:rPr lang="en-GB" b="0" i="0" dirty="0" err="1">
                <a:effectLst/>
                <a:latin typeface="fkGroteskNeue"/>
              </a:rPr>
              <a:t>lr</a:t>
            </a:r>
            <a:r>
              <a:rPr lang="en-GB" b="0" i="0" dirty="0">
                <a:effectLst/>
                <a:latin typeface="fkGroteskNeue"/>
              </a:rPr>
              <a:t>=0.0005): High, consistent metrics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  <a:latin typeface="fkGroteskNeue"/>
              </a:rPr>
              <a:t>CSILSTMNet</a:t>
            </a:r>
            <a:r>
              <a:rPr lang="en-GB" b="0" i="0" dirty="0">
                <a:effectLst/>
                <a:latin typeface="fkGroteskNeue"/>
              </a:rPr>
              <a:t> (</a:t>
            </a:r>
            <a:r>
              <a:rPr lang="en-GB" b="0" i="0" dirty="0" err="1">
                <a:effectLst/>
                <a:latin typeface="fkGroteskNeue"/>
              </a:rPr>
              <a:t>lr</a:t>
            </a:r>
            <a:r>
              <a:rPr lang="en-GB" b="0" i="0" dirty="0">
                <a:effectLst/>
                <a:latin typeface="fkGroteskNeue"/>
              </a:rPr>
              <a:t>=0.0005, 0.001): Slightly below leaders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fkGroteskNeue"/>
              </a:rPr>
              <a:t>MobileNetV3_1D_LSTM (</a:t>
            </a:r>
            <a:r>
              <a:rPr lang="en-GB" b="0" i="0" dirty="0" err="1">
                <a:effectLst/>
                <a:latin typeface="fkGroteskNeue"/>
              </a:rPr>
              <a:t>lr</a:t>
            </a:r>
            <a:r>
              <a:rPr lang="en-GB" b="0" i="0" dirty="0">
                <a:effectLst/>
                <a:latin typeface="fkGroteskNeue"/>
              </a:rPr>
              <a:t>=0.001): Lower but strong metrics</a:t>
            </a:r>
          </a:p>
        </p:txBody>
      </p:sp>
    </p:spTree>
    <p:extLst>
      <p:ext uri="{BB962C8B-B14F-4D97-AF65-F5344CB8AC3E}">
        <p14:creationId xmlns:p14="http://schemas.microsoft.com/office/powerpoint/2010/main" val="3870425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BA101-121E-CFC0-2A9B-510A03738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Insights &amp;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57BF5-286B-5529-FAF9-59A6B512B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en-GB" dirty="0"/>
          </a:p>
          <a:p>
            <a:r>
              <a:rPr lang="en-GB" b="1" dirty="0"/>
              <a:t>Learning Rate Tuning: </a:t>
            </a:r>
            <a:r>
              <a:rPr lang="en-GB" dirty="0"/>
              <a:t>Lower learning rate (0.0005) consistently outperforms 0.001 for all models</a:t>
            </a:r>
          </a:p>
          <a:p>
            <a:r>
              <a:rPr lang="en-GB" b="1" dirty="0"/>
              <a:t>Metric Trends: </a:t>
            </a:r>
            <a:r>
              <a:rPr lang="en-GB" dirty="0"/>
              <a:t>Metrics (accuracy, precision, recall, F1) closely match for each model configuration, indicating balanced performance</a:t>
            </a:r>
          </a:p>
          <a:p>
            <a:r>
              <a:rPr lang="en-GB" b="1" dirty="0"/>
              <a:t>Best Model: </a:t>
            </a:r>
            <a:r>
              <a:rPr lang="en-GB" dirty="0"/>
              <a:t>DenseNet1D with </a:t>
            </a:r>
            <a:r>
              <a:rPr lang="en-GB" dirty="0" err="1"/>
              <a:t>lr</a:t>
            </a:r>
            <a:r>
              <a:rPr lang="en-GB" dirty="0"/>
              <a:t>=0.0005 is the optimal choice for this experimental dataset</a:t>
            </a:r>
          </a:p>
          <a:p>
            <a:r>
              <a:rPr lang="en-GB" b="1" dirty="0"/>
              <a:t>Generalization: </a:t>
            </a:r>
            <a:r>
              <a:rPr lang="en-GB" dirty="0"/>
              <a:t>High and consistent validation scores suggest good model generalization and minimal overfitting issues across the experiments​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934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A356-53E7-1190-CACB-FED1C06F8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DenseNet1D with </a:t>
            </a:r>
            <a:r>
              <a:rPr lang="en-GB" dirty="0" err="1"/>
              <a:t>lr</a:t>
            </a:r>
            <a:r>
              <a:rPr lang="en-GB" dirty="0"/>
              <a:t>=0.0005 Plot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243D5E-330C-706E-2A56-25C838728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48682"/>
            <a:ext cx="8229600" cy="3428999"/>
          </a:xfrm>
        </p:spPr>
      </p:pic>
    </p:spTree>
    <p:extLst>
      <p:ext uri="{BB962C8B-B14F-4D97-AF65-F5344CB8AC3E}">
        <p14:creationId xmlns:p14="http://schemas.microsoft.com/office/powerpoint/2010/main" val="3652930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1B31F-81C2-38F4-0739-35F1949D1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DenseNet1D with </a:t>
            </a:r>
            <a:r>
              <a:rPr lang="en-GB" dirty="0" err="1"/>
              <a:t>lr</a:t>
            </a:r>
            <a:r>
              <a:rPr lang="en-GB" dirty="0"/>
              <a:t>=0.0005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D9DA4-4F0F-D73A-DEA6-056DED0F5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197387-F786-F99F-668A-6B109C304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207" y="1600200"/>
            <a:ext cx="4553585" cy="439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6817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DCEAEA-53F1-7338-B30D-71F2FAD6A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Thank you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3CC6D-424E-40F2-C2A8-562EFF7C1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295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6520F-F32C-02C4-344D-F84998F17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7BDE2BCA-CCD6-D3EC-EEE9-281367674081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>
          <a:xfrm>
            <a:off x="928328" y="1872983"/>
            <a:ext cx="7360823" cy="1792301"/>
          </a:xfrm>
          <a:gradFill rotWithShape="0">
            <a:gsLst>
              <a:gs pos="0">
                <a:srgbClr val="F5FBFE"/>
              </a:gs>
              <a:gs pos="74001">
                <a:srgbClr val="A2DAF6"/>
              </a:gs>
              <a:gs pos="83000">
                <a:srgbClr val="A2DAF6"/>
              </a:gs>
              <a:gs pos="100000">
                <a:srgbClr val="C1E6F9"/>
              </a:gs>
            </a:gsLst>
            <a:lin ang="5400000"/>
          </a:gradFill>
        </p:spPr>
        <p:txBody>
          <a:bodyPr/>
          <a:lstStyle/>
          <a:p>
            <a:pPr algn="ctr" eaLnBrk="1" hangingPunct="1"/>
            <a:r>
              <a:rPr lang="en-US" altLang="en-US" sz="3993" dirty="0"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MTECH AAI COHORT-1 Dissertation Project – Phase II</a:t>
            </a:r>
          </a:p>
        </p:txBody>
      </p:sp>
      <p:sp>
        <p:nvSpPr>
          <p:cNvPr id="40963" name="Subtitle 2">
            <a:extLst>
              <a:ext uri="{FF2B5EF4-FFF2-40B4-BE49-F238E27FC236}">
                <a16:creationId xmlns:a16="http://schemas.microsoft.com/office/drawing/2014/main" id="{00127FC9-49B6-D823-F0A4-A13696283D7A}"/>
              </a:ext>
            </a:extLst>
          </p:cNvPr>
          <p:cNvSpPr txBox="1">
            <a:spLocks noGrp="1" noChangeArrowheads="1"/>
          </p:cNvSpPr>
          <p:nvPr>
            <p:ph type="subTitle" sz="quarter" idx="1"/>
          </p:nvPr>
        </p:nvSpPr>
        <p:spPr>
          <a:xfrm>
            <a:off x="928328" y="4572000"/>
            <a:ext cx="7360823" cy="1432290"/>
          </a:xfrm>
          <a:gradFill rotWithShape="0">
            <a:gsLst>
              <a:gs pos="0">
                <a:srgbClr val="F5FBFE"/>
              </a:gs>
              <a:gs pos="74001">
                <a:srgbClr val="A2DAF6"/>
              </a:gs>
              <a:gs pos="83000">
                <a:srgbClr val="A2DAF6"/>
              </a:gs>
              <a:gs pos="100000">
                <a:srgbClr val="C1E6F9"/>
              </a:gs>
            </a:gsLst>
            <a:lin ang="5400000"/>
          </a:gradFill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1800" b="1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Presented by:</a:t>
            </a:r>
            <a:r>
              <a:rPr lang="en-US" altLang="en-US" sz="1800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Sanjeev Kumar Pandey	</a:t>
            </a:r>
          </a:p>
          <a:p>
            <a:pPr algn="ctr" eaLnBrk="1" hangingPunct="1"/>
            <a:r>
              <a:rPr lang="en-US" altLang="en-US" sz="1800" b="1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Enrolment No:</a:t>
            </a:r>
            <a:r>
              <a:rPr lang="en-US" altLang="en-US" sz="1800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MT23AAI001</a:t>
            </a:r>
          </a:p>
          <a:p>
            <a:pPr algn="ctr" eaLnBrk="1" hangingPunct="1"/>
            <a:r>
              <a:rPr lang="en-US" altLang="en-US" sz="1800" b="1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Project Guide:</a:t>
            </a:r>
            <a:r>
              <a:rPr lang="en-US" altLang="en-US" sz="1800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Dr. Amit Agrawal</a:t>
            </a:r>
          </a:p>
          <a:p>
            <a:pPr algn="ctr" eaLnBrk="1" hangingPunct="1"/>
            <a:r>
              <a:rPr lang="en-US" altLang="en-US" sz="1800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Date: 11-Oct-2025</a:t>
            </a:r>
          </a:p>
          <a:p>
            <a:pPr algn="ctr" eaLnBrk="1" hangingPunct="1"/>
            <a:endParaRPr lang="en-US" altLang="en-US" dirty="0">
              <a:solidFill>
                <a:srgbClr val="898989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40964" name="Picture 4" descr="Picture 4">
            <a:extLst>
              <a:ext uri="{FF2B5EF4-FFF2-40B4-BE49-F238E27FC236}">
                <a16:creationId xmlns:a16="http://schemas.microsoft.com/office/drawing/2014/main" id="{B7A5B41B-69D1-C8B6-0A02-629DC91C0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489" y="497061"/>
            <a:ext cx="1179980" cy="127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40965" name="Subtitle 2">
            <a:extLst>
              <a:ext uri="{FF2B5EF4-FFF2-40B4-BE49-F238E27FC236}">
                <a16:creationId xmlns:a16="http://schemas.microsoft.com/office/drawing/2014/main" id="{549C39CB-C0D0-AB70-990A-B87476CDB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309" y="3806478"/>
            <a:ext cx="7359383" cy="462483"/>
          </a:xfrm>
          <a:prstGeom prst="rect">
            <a:avLst/>
          </a:prstGeom>
          <a:gradFill rotWithShape="0">
            <a:gsLst>
              <a:gs pos="0">
                <a:srgbClr val="F5FBFE"/>
              </a:gs>
              <a:gs pos="74001">
                <a:srgbClr val="A2DAF6"/>
              </a:gs>
              <a:gs pos="83000">
                <a:srgbClr val="A2DAF6"/>
              </a:gs>
              <a:gs pos="100000">
                <a:srgbClr val="C1E6F9"/>
              </a:gs>
            </a:gsLst>
            <a:lin ang="5400000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1493" rIns="41493"/>
          <a:lstStyle>
            <a:lvl1pPr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1pPr>
            <a:lvl2pPr marL="874713" indent="-371475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2pPr>
            <a:lvl3pPr marL="1438275" indent="-430213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3pPr>
            <a:lvl4pPr marL="1800225" indent="-288925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4pPr>
            <a:lvl5pPr marL="2343150" indent="-327025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5pPr>
            <a:lvl6pPr marL="28003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6pPr>
            <a:lvl7pPr marL="32575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7pPr>
            <a:lvl8pPr marL="37147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8pPr>
            <a:lvl9pPr marL="41719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9pPr>
          </a:lstStyle>
          <a:p>
            <a:pPr algn="ctr" eaLnBrk="1">
              <a:buClrTx/>
              <a:buSzTx/>
              <a:buFontTx/>
              <a:buNone/>
            </a:pPr>
            <a:r>
              <a:rPr lang="en-US" altLang="en-US" sz="1724" b="1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Evaluation-II</a:t>
            </a:r>
          </a:p>
        </p:txBody>
      </p:sp>
    </p:spTree>
    <p:extLst>
      <p:ext uri="{BB962C8B-B14F-4D97-AF65-F5344CB8AC3E}">
        <p14:creationId xmlns:p14="http://schemas.microsoft.com/office/powerpoint/2010/main" val="2134635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4AA36-9245-97FB-7D20-8CD715E10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02B1-B698-331B-6A9D-48846F45D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Experimental Hyperparameter Configuration and Grid Sampling Strategy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778D02-367C-854E-2AA8-82065BE279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0028040"/>
              </p:ext>
            </p:extLst>
          </p:nvPr>
        </p:nvGraphicFramePr>
        <p:xfrm>
          <a:off x="606902" y="1497456"/>
          <a:ext cx="7727894" cy="218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45">
                  <a:extLst>
                    <a:ext uri="{9D8B030D-6E8A-4147-A177-3AD203B41FA5}">
                      <a16:colId xmlns:a16="http://schemas.microsoft.com/office/drawing/2014/main" val="4008570941"/>
                    </a:ext>
                  </a:extLst>
                </a:gridCol>
                <a:gridCol w="1875120">
                  <a:extLst>
                    <a:ext uri="{9D8B030D-6E8A-4147-A177-3AD203B41FA5}">
                      <a16:colId xmlns:a16="http://schemas.microsoft.com/office/drawing/2014/main" val="323992706"/>
                    </a:ext>
                  </a:extLst>
                </a:gridCol>
                <a:gridCol w="1381257">
                  <a:extLst>
                    <a:ext uri="{9D8B030D-6E8A-4147-A177-3AD203B41FA5}">
                      <a16:colId xmlns:a16="http://schemas.microsoft.com/office/drawing/2014/main" val="3738054000"/>
                    </a:ext>
                  </a:extLst>
                </a:gridCol>
                <a:gridCol w="1524146">
                  <a:extLst>
                    <a:ext uri="{9D8B030D-6E8A-4147-A177-3AD203B41FA5}">
                      <a16:colId xmlns:a16="http://schemas.microsoft.com/office/drawing/2014/main" val="2578734096"/>
                    </a:ext>
                  </a:extLst>
                </a:gridCol>
                <a:gridCol w="1063726">
                  <a:extLst>
                    <a:ext uri="{9D8B030D-6E8A-4147-A177-3AD203B41FA5}">
                      <a16:colId xmlns:a16="http://schemas.microsoft.com/office/drawing/2014/main" val="20697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 dirty="0">
                          <a:effectLst/>
                        </a:rPr>
                        <a:t>Model Name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>
                          <a:effectLst/>
                        </a:rPr>
                        <a:t>CSI Input Size / Channels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>
                          <a:effectLst/>
                        </a:rPr>
                        <a:t>Meta Features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>
                          <a:effectLst/>
                        </a:rPr>
                        <a:t>Sequence / Window Size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>
                          <a:effectLst/>
                        </a:rPr>
                        <a:t>Output Classes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7139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 b="1" dirty="0" err="1">
                          <a:effectLst/>
                          <a:latin typeface="+mn-lt"/>
                        </a:rPr>
                        <a:t>CSILSTMNet</a:t>
                      </a:r>
                      <a:endParaRPr lang="en-GB" sz="1200" b="1" dirty="0">
                        <a:effectLst/>
                        <a:latin typeface="+mn-lt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128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267054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 b="1">
                          <a:effectLst/>
                          <a:latin typeface="+mn-lt"/>
                        </a:rPr>
                        <a:t>DenseNet1D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89040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 b="1">
                          <a:effectLst/>
                          <a:latin typeface="+mn-lt"/>
                        </a:rPr>
                        <a:t>EfficientNet1DLSTM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 dirty="0"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128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037789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 b="1" dirty="0">
                          <a:effectLst/>
                          <a:latin typeface="+mn-lt"/>
                        </a:rPr>
                        <a:t>MobileNetV3_1D_LSTM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 dirty="0"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4844585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7D2D31-30B6-D228-2E92-3A91133FD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105713"/>
              </p:ext>
            </p:extLst>
          </p:nvPr>
        </p:nvGraphicFramePr>
        <p:xfrm>
          <a:off x="606902" y="3800324"/>
          <a:ext cx="772789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3947">
                  <a:extLst>
                    <a:ext uri="{9D8B030D-6E8A-4147-A177-3AD203B41FA5}">
                      <a16:colId xmlns:a16="http://schemas.microsoft.com/office/drawing/2014/main" val="3398294999"/>
                    </a:ext>
                  </a:extLst>
                </a:gridCol>
                <a:gridCol w="3863947">
                  <a:extLst>
                    <a:ext uri="{9D8B030D-6E8A-4147-A177-3AD203B41FA5}">
                      <a16:colId xmlns:a16="http://schemas.microsoft.com/office/drawing/2014/main" val="2376096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Hyperparameter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Values Tested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60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Learning Rate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0.001, 0.0005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416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Batch Size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16, 32, 64, 128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307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Adam, SGD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25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dirty="0">
                          <a:effectLst/>
                        </a:rPr>
                        <a:t>Weight Decay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0.0, 1e-5, 1e-4, 1e-3</a:t>
                      </a:r>
                      <a:endParaRPr lang="en-GB" dirty="0">
                        <a:effectLst/>
                      </a:endParaRP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372432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Epochs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429995"/>
                  </a:ext>
                </a:extLst>
              </a:tr>
            </a:tbl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44F33AC-EFEC-546C-5FDB-FD651F66FA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111536"/>
              </p:ext>
            </p:extLst>
          </p:nvPr>
        </p:nvGraphicFramePr>
        <p:xfrm>
          <a:off x="6202545" y="6086475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2" imgW="914400" imgH="771656" progId="Excel.SheetMacroEnabled.12">
                  <p:embed/>
                </p:oleObj>
              </mc:Choice>
              <mc:Fallback>
                <p:oleObj name="Macro-Enabled Worksheet" showAsIcon="1" r:id="rId2" imgW="914400" imgH="771656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02545" y="6086475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09079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0478F-DEAE-2427-7906-269798A0E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b="1" dirty="0"/>
              <a:t>Observations from Short-Epoch Grid Search (10 Epochs)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CE221-9ACB-E961-09CC-9DA906C53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b="1" dirty="0"/>
              <a:t>📈 Overall Correlation</a:t>
            </a:r>
            <a:endParaRPr lang="en-GB" dirty="0"/>
          </a:p>
          <a:p>
            <a:pPr lvl="1"/>
            <a:r>
              <a:rPr lang="en-GB" dirty="0"/>
              <a:t>Train F1 ↔ Val F1 correlation ≈ </a:t>
            </a:r>
            <a:r>
              <a:rPr lang="en-GB" b="1" dirty="0"/>
              <a:t>0.88</a:t>
            </a:r>
            <a:r>
              <a:rPr lang="en-GB" dirty="0"/>
              <a:t> → Stable training trends</a:t>
            </a:r>
          </a:p>
          <a:p>
            <a:pPr lvl="1"/>
            <a:r>
              <a:rPr lang="en-GB" dirty="0"/>
              <a:t>Overfitting visible at </a:t>
            </a:r>
            <a:r>
              <a:rPr lang="en-GB" b="1" dirty="0"/>
              <a:t>higher learning rates</a:t>
            </a:r>
            <a:r>
              <a:rPr lang="en-GB" dirty="0"/>
              <a:t> or </a:t>
            </a:r>
            <a:r>
              <a:rPr lang="en-GB" b="1" dirty="0"/>
              <a:t>zero weight decay</a:t>
            </a:r>
            <a:endParaRPr lang="en-GB" dirty="0"/>
          </a:p>
          <a:p>
            <a:r>
              <a:rPr lang="en-GB" b="1" dirty="0"/>
              <a:t>⚙️ Batch Size</a:t>
            </a:r>
            <a:endParaRPr lang="en-GB" dirty="0"/>
          </a:p>
          <a:p>
            <a:pPr lvl="1"/>
            <a:r>
              <a:rPr lang="en-GB" b="1" dirty="0"/>
              <a:t>128 (Adam or SGD)</a:t>
            </a:r>
            <a:r>
              <a:rPr lang="en-GB" dirty="0"/>
              <a:t> under-utilizes gradient noise</a:t>
            </a:r>
          </a:p>
          <a:p>
            <a:pPr lvl="1"/>
            <a:r>
              <a:rPr lang="en-GB" dirty="0"/>
              <a:t>Poor early generalization — </a:t>
            </a:r>
            <a:r>
              <a:rPr lang="en-GB" b="1" dirty="0"/>
              <a:t>remove for long (50/100 epoch)</a:t>
            </a:r>
            <a:r>
              <a:rPr lang="en-GB" dirty="0"/>
              <a:t> runs</a:t>
            </a:r>
          </a:p>
          <a:p>
            <a:r>
              <a:rPr lang="en-GB" b="1" dirty="0"/>
              <a:t>📉 Weight Decay</a:t>
            </a:r>
            <a:endParaRPr lang="en-GB" dirty="0"/>
          </a:p>
          <a:p>
            <a:pPr lvl="1"/>
            <a:r>
              <a:rPr lang="en-GB" b="1" dirty="0"/>
              <a:t>&gt; 1e-3</a:t>
            </a:r>
            <a:r>
              <a:rPr lang="en-GB" dirty="0"/>
              <a:t> consistently degrades validation performance</a:t>
            </a:r>
          </a:p>
          <a:p>
            <a:pPr lvl="1"/>
            <a:r>
              <a:rPr lang="en-GB" dirty="0"/>
              <a:t>Recommended: </a:t>
            </a:r>
            <a:r>
              <a:rPr lang="en-GB" b="1" dirty="0"/>
              <a:t>1e-5 – 1e-4</a:t>
            </a:r>
            <a:endParaRPr lang="en-GB" dirty="0"/>
          </a:p>
          <a:p>
            <a:r>
              <a:rPr lang="en-GB" b="1" dirty="0"/>
              <a:t>🚀 Learning Rate</a:t>
            </a:r>
            <a:endParaRPr lang="en-GB" dirty="0"/>
          </a:p>
          <a:p>
            <a:pPr lvl="1"/>
            <a:r>
              <a:rPr lang="en-GB" b="1" dirty="0"/>
              <a:t>0.0005 – 0.001</a:t>
            </a:r>
            <a:r>
              <a:rPr lang="en-GB" dirty="0"/>
              <a:t> works best for Adam</a:t>
            </a:r>
          </a:p>
          <a:p>
            <a:pPr lvl="1"/>
            <a:r>
              <a:rPr lang="en-GB" b="1" dirty="0"/>
              <a:t>SGD needs ≥ 0.005</a:t>
            </a:r>
            <a:endParaRPr lang="en-GB" dirty="0"/>
          </a:p>
          <a:p>
            <a:r>
              <a:rPr lang="en-GB" b="1" dirty="0"/>
              <a:t>🧩 Optimizer Behaviour</a:t>
            </a:r>
            <a:endParaRPr lang="en-GB" dirty="0"/>
          </a:p>
          <a:p>
            <a:pPr lvl="1"/>
            <a:r>
              <a:rPr lang="en-GB" b="1" dirty="0"/>
              <a:t>Adam (no decay)</a:t>
            </a:r>
            <a:r>
              <a:rPr lang="en-GB" dirty="0"/>
              <a:t> → mild overfitting (Train F1 − Val F1 &gt; 0.05)</a:t>
            </a:r>
          </a:p>
          <a:p>
            <a:pPr lvl="1"/>
            <a:r>
              <a:rPr lang="en-GB" dirty="0"/>
              <a:t>Use small decay (</a:t>
            </a:r>
            <a:r>
              <a:rPr lang="en-GB" b="1" dirty="0"/>
              <a:t>1e-4</a:t>
            </a:r>
            <a:r>
              <a:rPr lang="en-GB" dirty="0"/>
              <a:t>) for better generalization</a:t>
            </a:r>
          </a:p>
          <a:p>
            <a:pPr marL="0" indent="0">
              <a:buNone/>
            </a:pPr>
            <a:endParaRPr lang="en-GB" sz="4200" b="1" dirty="0"/>
          </a:p>
          <a:p>
            <a:pPr marL="0" indent="0">
              <a:buNone/>
            </a:pPr>
            <a:r>
              <a:rPr lang="en-GB" sz="4200" b="1" dirty="0"/>
              <a:t>Conclusion:</a:t>
            </a:r>
            <a:br>
              <a:rPr lang="en-GB" sz="4200" dirty="0"/>
            </a:br>
            <a:r>
              <a:rPr lang="en-GB" sz="4200" dirty="0"/>
              <a:t>Restrict long-run grid(50-100 Epochs) to </a:t>
            </a:r>
            <a:r>
              <a:rPr lang="en-GB" sz="4200" b="1" dirty="0"/>
              <a:t>LR ∈ [0.0005–0.001]</a:t>
            </a:r>
            <a:r>
              <a:rPr lang="en-GB" sz="4200" dirty="0"/>
              <a:t>, </a:t>
            </a:r>
            <a:r>
              <a:rPr lang="en-GB" sz="4200" b="1" dirty="0"/>
              <a:t>Batch Size ∈ [32–64]</a:t>
            </a:r>
            <a:r>
              <a:rPr lang="en-GB" sz="4200" dirty="0"/>
              <a:t>, </a:t>
            </a:r>
            <a:r>
              <a:rPr lang="en-GB" sz="4200" b="1" dirty="0"/>
              <a:t>Adam with 1e-4 decay.</a:t>
            </a:r>
            <a:endParaRPr lang="en-GB" sz="4200" dirty="0"/>
          </a:p>
        </p:txBody>
      </p:sp>
    </p:spTree>
    <p:extLst>
      <p:ext uri="{BB962C8B-B14F-4D97-AF65-F5344CB8AC3E}">
        <p14:creationId xmlns:p14="http://schemas.microsoft.com/office/powerpoint/2010/main" val="410788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1433C-3FE1-F47F-3DEE-CA2ED90E5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02E4-9410-76AB-1381-43E4F70B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Experimental Hyperparameter Configuration and Grid Sampling Strategy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A8D259-CAB7-4C8C-BFD1-87CEFB3B0EE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6902" y="1497456"/>
          <a:ext cx="7727894" cy="218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45">
                  <a:extLst>
                    <a:ext uri="{9D8B030D-6E8A-4147-A177-3AD203B41FA5}">
                      <a16:colId xmlns:a16="http://schemas.microsoft.com/office/drawing/2014/main" val="4008570941"/>
                    </a:ext>
                  </a:extLst>
                </a:gridCol>
                <a:gridCol w="1875120">
                  <a:extLst>
                    <a:ext uri="{9D8B030D-6E8A-4147-A177-3AD203B41FA5}">
                      <a16:colId xmlns:a16="http://schemas.microsoft.com/office/drawing/2014/main" val="323992706"/>
                    </a:ext>
                  </a:extLst>
                </a:gridCol>
                <a:gridCol w="1381257">
                  <a:extLst>
                    <a:ext uri="{9D8B030D-6E8A-4147-A177-3AD203B41FA5}">
                      <a16:colId xmlns:a16="http://schemas.microsoft.com/office/drawing/2014/main" val="3738054000"/>
                    </a:ext>
                  </a:extLst>
                </a:gridCol>
                <a:gridCol w="1524146">
                  <a:extLst>
                    <a:ext uri="{9D8B030D-6E8A-4147-A177-3AD203B41FA5}">
                      <a16:colId xmlns:a16="http://schemas.microsoft.com/office/drawing/2014/main" val="2578734096"/>
                    </a:ext>
                  </a:extLst>
                </a:gridCol>
                <a:gridCol w="1063726">
                  <a:extLst>
                    <a:ext uri="{9D8B030D-6E8A-4147-A177-3AD203B41FA5}">
                      <a16:colId xmlns:a16="http://schemas.microsoft.com/office/drawing/2014/main" val="20697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 dirty="0">
                          <a:effectLst/>
                        </a:rPr>
                        <a:t>Model Name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>
                          <a:effectLst/>
                        </a:rPr>
                        <a:t>CSI Input Size / Channels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>
                          <a:effectLst/>
                        </a:rPr>
                        <a:t>Meta Features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>
                          <a:effectLst/>
                        </a:rPr>
                        <a:t>Sequence / Window Size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>
                          <a:effectLst/>
                        </a:rPr>
                        <a:t>Output Classes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7139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 b="1" dirty="0" err="1">
                          <a:effectLst/>
                          <a:latin typeface="+mn-lt"/>
                        </a:rPr>
                        <a:t>CSILSTMNet</a:t>
                      </a:r>
                      <a:endParaRPr lang="en-GB" sz="1200" b="1" dirty="0">
                        <a:effectLst/>
                        <a:latin typeface="+mn-lt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128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267054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 b="1">
                          <a:effectLst/>
                          <a:latin typeface="+mn-lt"/>
                        </a:rPr>
                        <a:t>DenseNet1D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89040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 b="1">
                          <a:effectLst/>
                          <a:latin typeface="+mn-lt"/>
                        </a:rPr>
                        <a:t>EfficientNet1DLSTM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 dirty="0"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128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037789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 b="1" dirty="0">
                          <a:effectLst/>
                          <a:latin typeface="+mn-lt"/>
                        </a:rPr>
                        <a:t>MobileNetV3_1D_LSTM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200" dirty="0"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4844585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78BC98-1CA6-4AC5-D262-E76296193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918337"/>
              </p:ext>
            </p:extLst>
          </p:nvPr>
        </p:nvGraphicFramePr>
        <p:xfrm>
          <a:off x="606902" y="3800324"/>
          <a:ext cx="772789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3947">
                  <a:extLst>
                    <a:ext uri="{9D8B030D-6E8A-4147-A177-3AD203B41FA5}">
                      <a16:colId xmlns:a16="http://schemas.microsoft.com/office/drawing/2014/main" val="3398294999"/>
                    </a:ext>
                  </a:extLst>
                </a:gridCol>
                <a:gridCol w="3863947">
                  <a:extLst>
                    <a:ext uri="{9D8B030D-6E8A-4147-A177-3AD203B41FA5}">
                      <a16:colId xmlns:a16="http://schemas.microsoft.com/office/drawing/2014/main" val="2376096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Hyperparameter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Values Tested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60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Learning Rate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0.001, 0.0005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416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Batch Size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32, 64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307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Adam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25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dirty="0">
                          <a:effectLst/>
                        </a:rPr>
                        <a:t>Weight Decay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1e-4</a:t>
                      </a:r>
                      <a:endParaRPr lang="en-GB" dirty="0">
                        <a:effectLst/>
                      </a:endParaRP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372432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Epochs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50, 100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429995"/>
                  </a:ext>
                </a:extLst>
              </a:tr>
            </a:tbl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8A5D3C6-8FBA-5A86-C034-06C4A1C450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02545" y="6086475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2" imgW="914400" imgH="771656" progId="Excel.SheetMacroEnabled.12">
                  <p:embed/>
                </p:oleObj>
              </mc:Choice>
              <mc:Fallback>
                <p:oleObj name="Macro-Enabled Worksheet" showAsIcon="1" r:id="rId2" imgW="914400" imgH="771656" progId="Excel.SheetMacroEnabled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444F33AC-EFEC-546C-5FDB-FD651F66FA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02545" y="6086475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328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20182</TotalTime>
  <Words>1576</Words>
  <Application>Microsoft Office PowerPoint</Application>
  <PresentationFormat>On-screen Show (4:3)</PresentationFormat>
  <Paragraphs>271</Paragraphs>
  <Slides>31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Cambria Math</vt:lpstr>
      <vt:lpstr>Corbel</vt:lpstr>
      <vt:lpstr>fkGrotesk</vt:lpstr>
      <vt:lpstr>fkGroteskNeue</vt:lpstr>
      <vt:lpstr>Office Theme</vt:lpstr>
      <vt:lpstr>Microsoft Excel Macro-Enabled Worksheet</vt:lpstr>
      <vt:lpstr>MTECH AAI COHORT-1 Dissertation Project – Phase II</vt:lpstr>
      <vt:lpstr>Human ID &amp; Activity Prediction using Wi-Fi Signals</vt:lpstr>
      <vt:lpstr>Project Objectives</vt:lpstr>
      <vt:lpstr>PowerPoint Presentation</vt:lpstr>
      <vt:lpstr>Planning overview</vt:lpstr>
      <vt:lpstr>Dataset Overview</vt:lpstr>
      <vt:lpstr>Key Features of Dataset</vt:lpstr>
      <vt:lpstr>Feasibility of Human ID Prediction</vt:lpstr>
      <vt:lpstr>Use Case: Security &amp; Monitoring</vt:lpstr>
      <vt:lpstr>Target Variables</vt:lpstr>
      <vt:lpstr>Model Development Approaches</vt:lpstr>
      <vt:lpstr>Conclusion &amp; Next Steps</vt:lpstr>
      <vt:lpstr>MTECH AAI COHORT-1 Dissertation Project – Phase II</vt:lpstr>
      <vt:lpstr>PowerPoint Presentation</vt:lpstr>
      <vt:lpstr>PowerPoint Presentation</vt:lpstr>
      <vt:lpstr>Project Objective</vt:lpstr>
      <vt:lpstr>MLflow Integration</vt:lpstr>
      <vt:lpstr>CSI Data</vt:lpstr>
      <vt:lpstr>PowerPoint Presentation</vt:lpstr>
      <vt:lpstr>PowerPoint Presentation</vt:lpstr>
      <vt:lpstr>PowerPoint Presentation</vt:lpstr>
      <vt:lpstr>PowerPoint Presentation</vt:lpstr>
      <vt:lpstr>Best Model</vt:lpstr>
      <vt:lpstr>Insights &amp; Conclusions</vt:lpstr>
      <vt:lpstr>DenseNet1D with lr=0.0005 Plot</vt:lpstr>
      <vt:lpstr>DenseNet1D with lr=0.0005 Plot</vt:lpstr>
      <vt:lpstr>Thank you</vt:lpstr>
      <vt:lpstr>MTECH AAI COHORT-1 Dissertation Project – Phase II</vt:lpstr>
      <vt:lpstr>Experimental Hyperparameter Configuration and Grid Sampling Strategy</vt:lpstr>
      <vt:lpstr>Observations from Short-Epoch Grid Search (10 Epochs)</vt:lpstr>
      <vt:lpstr>Experimental Hyperparameter Configuration and Grid Sampling Strategy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Sanjeev Pandey</cp:lastModifiedBy>
  <cp:revision>14</cp:revision>
  <dcterms:created xsi:type="dcterms:W3CDTF">2013-01-27T09:14:16Z</dcterms:created>
  <dcterms:modified xsi:type="dcterms:W3CDTF">2025-10-21T09:37:41Z</dcterms:modified>
  <cp:category/>
</cp:coreProperties>
</file>